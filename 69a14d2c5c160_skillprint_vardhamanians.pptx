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68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D6FB604-F3E4-4D04-BE2C-28E0A4D1208B}" v="4" dt="2026-02-27T04:06:49.4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ik Muskan" userId="8695e7757991edfe" providerId="LiveId" clId="{C0A8786A-00EF-4E70-B940-97B58B05D9AC}"/>
    <pc:docChg chg="custSel modSld">
      <pc:chgData name="Shaik Muskan" userId="8695e7757991edfe" providerId="LiveId" clId="{C0A8786A-00EF-4E70-B940-97B58B05D9AC}" dt="2026-02-27T07:51:48.660" v="39" actId="29295"/>
      <pc:docMkLst>
        <pc:docMk/>
      </pc:docMkLst>
      <pc:sldChg chg="addSp delSp modSp mod">
        <pc:chgData name="Shaik Muskan" userId="8695e7757991edfe" providerId="LiveId" clId="{C0A8786A-00EF-4E70-B940-97B58B05D9AC}" dt="2026-02-27T07:51:48.660" v="39" actId="29295"/>
        <pc:sldMkLst>
          <pc:docMk/>
          <pc:sldMk cId="4270180998" sldId="268"/>
        </pc:sldMkLst>
        <pc:spChg chg="mod">
          <ac:chgData name="Shaik Muskan" userId="8695e7757991edfe" providerId="LiveId" clId="{C0A8786A-00EF-4E70-B940-97B58B05D9AC}" dt="2026-02-27T07:51:17.731" v="35" actId="5793"/>
          <ac:spMkLst>
            <pc:docMk/>
            <pc:sldMk cId="4270180998" sldId="268"/>
            <ac:spMk id="3" creationId="{3C6B795C-7ADF-26D9-0B85-1C76BDCC83F1}"/>
          </ac:spMkLst>
        </pc:spChg>
        <pc:picChg chg="del">
          <ac:chgData name="Shaik Muskan" userId="8695e7757991edfe" providerId="LiveId" clId="{C0A8786A-00EF-4E70-B940-97B58B05D9AC}" dt="2026-02-27T07:45:49.850" v="0" actId="21"/>
          <ac:picMkLst>
            <pc:docMk/>
            <pc:sldMk cId="4270180998" sldId="268"/>
            <ac:picMk id="2" creationId="{4E40CF2B-4999-E236-8CDD-C384A86DDF20}"/>
          </ac:picMkLst>
        </pc:picChg>
        <pc:picChg chg="add del mod ord">
          <ac:chgData name="Shaik Muskan" userId="8695e7757991edfe" providerId="LiveId" clId="{C0A8786A-00EF-4E70-B940-97B58B05D9AC}" dt="2026-02-27T07:47:50.019" v="6" actId="21"/>
          <ac:picMkLst>
            <pc:docMk/>
            <pc:sldMk cId="4270180998" sldId="268"/>
            <ac:picMk id="5" creationId="{DF2DE1EC-FA30-F5FD-5396-284BC2D2E504}"/>
          </ac:picMkLst>
        </pc:picChg>
        <pc:picChg chg="add del mod ord">
          <ac:chgData name="Shaik Muskan" userId="8695e7757991edfe" providerId="LiveId" clId="{C0A8786A-00EF-4E70-B940-97B58B05D9AC}" dt="2026-02-27T07:51:28.413" v="36" actId="21"/>
          <ac:picMkLst>
            <pc:docMk/>
            <pc:sldMk cId="4270180998" sldId="268"/>
            <ac:picMk id="7" creationId="{3B0752EA-53A4-3BB9-32A3-BBDE638AA655}"/>
          </ac:picMkLst>
        </pc:picChg>
        <pc:picChg chg="add mod ord">
          <ac:chgData name="Shaik Muskan" userId="8695e7757991edfe" providerId="LiveId" clId="{C0A8786A-00EF-4E70-B940-97B58B05D9AC}" dt="2026-02-27T07:51:48.660" v="39" actId="29295"/>
          <ac:picMkLst>
            <pc:docMk/>
            <pc:sldMk cId="4270180998" sldId="268"/>
            <ac:picMk id="9" creationId="{F1D68DE5-72E0-64E4-0531-65DAF9EFA589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A0A0F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A0A0F"/>
                </a:solidFill>
                <a:latin typeface="Arial"/>
              </a:rPr>
              <a:t>Revenue Projection (₹ Lakhs/Month)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Revenue (₹L)</c:v>
                </c:pt>
              </c:strCache>
            </c:strRef>
          </c:tx>
          <c:spPr>
            <a:solidFill>
              <a:srgbClr val="FF4D0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2222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M6</c:v>
                </c:pt>
                <c:pt idx="1">
                  <c:v>M9</c:v>
                </c:pt>
                <c:pt idx="2">
                  <c:v>M12</c:v>
                </c:pt>
                <c:pt idx="3">
                  <c:v>M15</c:v>
                </c:pt>
                <c:pt idx="4">
                  <c:v>M18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2.5</c:v>
                </c:pt>
                <c:pt idx="1">
                  <c:v>8</c:v>
                </c:pt>
                <c:pt idx="2">
                  <c:v>24</c:v>
                </c:pt>
                <c:pt idx="3">
                  <c:v>55</c:v>
                </c:pt>
                <c:pt idx="4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65C-4F5E-9B68-B5B9D9F97E2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8859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1D68DE5-72E0-64E4-0531-65DAF9EFA58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C6B795C-7ADF-26D9-0B85-1C76BDCC83F1}"/>
              </a:ext>
            </a:extLst>
          </p:cNvPr>
          <p:cNvSpPr txBox="1"/>
          <p:nvPr/>
        </p:nvSpPr>
        <p:spPr>
          <a:xfrm>
            <a:off x="228600" y="1441937"/>
            <a:ext cx="8686800" cy="19433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 </a:t>
            </a:r>
            <a:r>
              <a:rPr lang="en-GB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Team Details</a:t>
            </a:r>
            <a:endParaRPr lang="en-IN" dirty="0">
              <a:solidFill>
                <a:schemeClr val="bg1"/>
              </a:solidFill>
            </a:endParaRPr>
          </a:p>
          <a:p>
            <a:pPr marL="139700" lvl="0">
              <a:lnSpc>
                <a:spcPct val="115000"/>
              </a:lnSpc>
              <a:buClr>
                <a:schemeClr val="dk1"/>
              </a:buClr>
              <a:buSzPts val="1400"/>
            </a:pPr>
            <a:r>
              <a:rPr lang="en-US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Team name - </a:t>
            </a: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Baaghi</a:t>
            </a:r>
            <a:endParaRPr lang="en-US" sz="1600" dirty="0">
              <a:solidFill>
                <a:schemeClr val="bg1"/>
              </a:solidFill>
              <a:latin typeface="Arial" panose="020B0604020202020204" pitchFamily="34" charset="0"/>
              <a:ea typeface="Poppins"/>
              <a:cs typeface="Arial" panose="020B0604020202020204" pitchFamily="34" charset="0"/>
              <a:sym typeface="Poppins"/>
            </a:endParaRPr>
          </a:p>
          <a:p>
            <a:pPr marL="139700" lvl="0">
              <a:lnSpc>
                <a:spcPct val="115000"/>
              </a:lnSpc>
              <a:buClr>
                <a:schemeClr val="dk1"/>
              </a:buClr>
              <a:buSzPts val="1400"/>
            </a:pPr>
            <a:r>
              <a:rPr lang="en-US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Team leader name – </a:t>
            </a:r>
            <a:r>
              <a:rPr lang="en-US" b="1" dirty="0">
                <a:solidFill>
                  <a:schemeClr val="bg1"/>
                </a:solidFill>
                <a:ea typeface="Poppins"/>
                <a:cs typeface="Poppins"/>
                <a:sym typeface="Poppins"/>
              </a:rPr>
              <a:t>Shaik Muskan</a:t>
            </a:r>
          </a:p>
          <a:p>
            <a:pPr marL="139700" lvl="0">
              <a:lnSpc>
                <a:spcPct val="115000"/>
              </a:lnSpc>
              <a:buClr>
                <a:schemeClr val="dk1"/>
              </a:buClr>
              <a:buSzPts val="1400"/>
            </a:pPr>
            <a:r>
              <a:rPr lang="en-US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Problem Statement - </a:t>
            </a:r>
            <a:r>
              <a:rPr lang="en-US" dirty="0">
                <a:solidFill>
                  <a:schemeClr val="bg1"/>
                </a:solidFill>
              </a:rPr>
              <a:t>Hiring relies on DSA coding rounds that don’t reflect real job skills, filtering out capable engineers for the wrong reasons .As a result, talented people especially from smaller cities remain invisible despite having the right practical</a:t>
            </a:r>
          </a:p>
        </p:txBody>
      </p:sp>
    </p:spTree>
    <p:extLst>
      <p:ext uri="{BB962C8B-B14F-4D97-AF65-F5344CB8AC3E}">
        <p14:creationId xmlns:p14="http://schemas.microsoft.com/office/powerpoint/2010/main" val="42701809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0A0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"/>
          </a:xfrm>
          <a:prstGeom prst="rect">
            <a:avLst/>
          </a:prstGeom>
          <a:solidFill>
            <a:srgbClr val="FF4D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 —  Brief About The Idea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3840480" cy="3474720"/>
          </a:xfrm>
          <a:prstGeom prst="rect">
            <a:avLst/>
          </a:prstGeom>
          <a:solidFill>
            <a:srgbClr val="2D0A0A"/>
          </a:solidFill>
          <a:ln w="19050">
            <a:solidFill>
              <a:srgbClr val="8B1A1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68680"/>
            <a:ext cx="3840480" cy="411480"/>
          </a:xfrm>
          <a:prstGeom prst="rect">
            <a:avLst/>
          </a:prstGeom>
          <a:solidFill>
            <a:srgbClr val="8B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686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 TODAY'S HIRING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463040"/>
            <a:ext cx="256032" cy="256032"/>
          </a:xfrm>
          <a:prstGeom prst="ellipse">
            <a:avLst/>
          </a:prstGeom>
          <a:solidFill>
            <a:srgbClr val="E53E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4630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✕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14173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D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applies for UI Design role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2011680"/>
            <a:ext cx="256032" cy="256032"/>
          </a:xfrm>
          <a:prstGeom prst="ellipse">
            <a:avLst/>
          </a:prstGeom>
          <a:solidFill>
            <a:srgbClr val="E53E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0116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✕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68680" y="19659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D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Receives DSA round: Binary Trees, DP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2560320"/>
            <a:ext cx="256032" cy="256032"/>
          </a:xfrm>
          <a:prstGeom prst="ellipse">
            <a:avLst/>
          </a:prstGeom>
          <a:solidFill>
            <a:srgbClr val="E53E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5603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✕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68680" y="25146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D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Gets rejected — can't code algorithms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3108960"/>
            <a:ext cx="256032" cy="256032"/>
          </a:xfrm>
          <a:prstGeom prst="ellipse">
            <a:avLst/>
          </a:prstGeom>
          <a:solidFill>
            <a:srgbClr val="E53E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1089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✕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68680" y="30632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D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misses the best designer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3657600"/>
            <a:ext cx="256032" cy="256032"/>
          </a:xfrm>
          <a:prstGeom prst="ellipse">
            <a:avLst/>
          </a:prstGeom>
          <a:solidFill>
            <a:srgbClr val="E53E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6576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✕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68680" y="36118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D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Brilliant talent stays invisible forever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206240" y="2286000"/>
            <a:ext cx="731520" cy="457200"/>
          </a:xfrm>
          <a:prstGeom prst="rect">
            <a:avLst/>
          </a:prstGeom>
          <a:solidFill>
            <a:srgbClr val="FF4D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06240" y="22860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→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4160520" y="283464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4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4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029200" y="868680"/>
            <a:ext cx="3840480" cy="3474720"/>
          </a:xfrm>
          <a:prstGeom prst="rect">
            <a:avLst/>
          </a:prstGeom>
          <a:solidFill>
            <a:srgbClr val="0A2D12"/>
          </a:solidFill>
          <a:ln w="19050">
            <a:solidFill>
              <a:srgbClr val="1A6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029200" y="868680"/>
            <a:ext cx="3840480" cy="411480"/>
          </a:xfrm>
          <a:prstGeom prst="rect">
            <a:avLst/>
          </a:prstGeom>
          <a:solidFill>
            <a:srgbClr val="1A6B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0" y="8686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WITH SKILLPRINT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230368" y="1463040"/>
            <a:ext cx="256032" cy="256032"/>
          </a:xfrm>
          <a:prstGeom prst="ellipse">
            <a:avLst/>
          </a:prstGeom>
          <a:solidFill>
            <a:srgbClr val="00C5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30368" y="14630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596128" y="14173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DD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connects GitHub profile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230368" y="2011680"/>
            <a:ext cx="256032" cy="256032"/>
          </a:xfrm>
          <a:prstGeom prst="ellipse">
            <a:avLst/>
          </a:prstGeom>
          <a:solidFill>
            <a:srgbClr val="00C5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30368" y="20116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596128" y="19659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DD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analyses 12 real skill dimensions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230368" y="2560320"/>
            <a:ext cx="256032" cy="256032"/>
          </a:xfrm>
          <a:prstGeom prst="ellipse">
            <a:avLst/>
          </a:prstGeom>
          <a:solidFill>
            <a:srgbClr val="00C5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30368" y="25603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596128" y="25146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DD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Role-Fit Score: 94% for UI Design role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230368" y="3108960"/>
            <a:ext cx="256032" cy="256032"/>
          </a:xfrm>
          <a:prstGeom prst="ellipse">
            <a:avLst/>
          </a:prstGeom>
          <a:solidFill>
            <a:srgbClr val="00C5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230368" y="31089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96128" y="30632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DD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sees skills, not algorithms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230368" y="3657600"/>
            <a:ext cx="256032" cy="256032"/>
          </a:xfrm>
          <a:prstGeom prst="ellipse">
            <a:avLst/>
          </a:prstGeom>
          <a:solidFill>
            <a:srgbClr val="00C5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230368" y="36576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596128" y="36118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DD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Priya from Warangal gets the job ✓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0" y="4480560"/>
            <a:ext cx="9144000" cy="658368"/>
          </a:xfrm>
          <a:prstGeom prst="rect">
            <a:avLst/>
          </a:prstGeom>
          <a:solidFill>
            <a:srgbClr val="0A0A0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44988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4D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1.5M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365760" y="4800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engineers filtered unfairly / yr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2560320" y="44988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4D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88%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2560320" y="4800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workforce skill mismatch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754880" y="44988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4D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29M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4754880" y="4800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 talent gap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949440" y="44988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4D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₹8,000Cr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6949440" y="4800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addressable market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0A0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"/>
          </a:xfrm>
          <a:prstGeom prst="rect">
            <a:avLst/>
          </a:prstGeom>
          <a:solidFill>
            <a:srgbClr val="FF4D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OPPORTUNITIES  —  Why SkillPrint Wins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2377440" cy="411480"/>
          </a:xfrm>
          <a:prstGeom prst="rect">
            <a:avLst/>
          </a:prstGeom>
          <a:solidFill>
            <a:srgbClr val="0A0A0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772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697480" y="777240"/>
            <a:ext cx="1920240" cy="411480"/>
          </a:xfrm>
          <a:prstGeom prst="rect">
            <a:avLst/>
          </a:prstGeom>
          <a:solidFill>
            <a:srgbClr val="4A4A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97480" y="7772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Naukri / LinkedIn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777240"/>
            <a:ext cx="1920240" cy="411480"/>
          </a:xfrm>
          <a:prstGeom prst="rect">
            <a:avLst/>
          </a:prstGeom>
          <a:solidFill>
            <a:srgbClr val="4A4A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7772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Synapsica / 5C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629400" y="777240"/>
            <a:ext cx="1920240" cy="411480"/>
          </a:xfrm>
          <a:prstGeom prst="rect">
            <a:avLst/>
          </a:prstGeom>
          <a:solidFill>
            <a:srgbClr val="FF4D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0" y="7772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SkillPrint ✦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1234440"/>
            <a:ext cx="2377440" cy="438912"/>
          </a:xfrm>
          <a:prstGeom prst="rect">
            <a:avLst/>
          </a:prstGeom>
          <a:solidFill>
            <a:srgbClr val="F8F6F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123444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0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Targets Tier 2/3 SMEs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697480" y="1234440"/>
            <a:ext cx="1920240" cy="438912"/>
          </a:xfrm>
          <a:prstGeom prst="rect">
            <a:avLst/>
          </a:prstGeom>
          <a:solidFill>
            <a:srgbClr val="F8F6F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97480" y="123444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53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663440" y="1234440"/>
            <a:ext cx="1920240" cy="438912"/>
          </a:xfrm>
          <a:prstGeom prst="rect">
            <a:avLst/>
          </a:prstGeom>
          <a:solidFill>
            <a:srgbClr val="F8F6F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123444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53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629400" y="1234440"/>
            <a:ext cx="1920240" cy="438912"/>
          </a:xfrm>
          <a:prstGeom prst="rect">
            <a:avLst/>
          </a:prstGeom>
          <a:solidFill>
            <a:srgbClr val="E8F5E9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29400" y="123444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7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4320" y="1709928"/>
            <a:ext cx="2377440" cy="438912"/>
          </a:xfrm>
          <a:prstGeom prst="rect">
            <a:avLst/>
          </a:prstGeom>
          <a:solidFill>
            <a:srgbClr val="EEEBE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1709928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0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DSA Filter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697480" y="1709928"/>
            <a:ext cx="1920240" cy="438912"/>
          </a:xfrm>
          <a:prstGeom prst="rect">
            <a:avLst/>
          </a:prstGeom>
          <a:solidFill>
            <a:srgbClr val="EEEBE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97480" y="170992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53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663440" y="1709928"/>
            <a:ext cx="1920240" cy="438912"/>
          </a:xfrm>
          <a:prstGeom prst="rect">
            <a:avLst/>
          </a:prstGeom>
          <a:solidFill>
            <a:srgbClr val="EEEBE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170992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53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629400" y="1709928"/>
            <a:ext cx="1920240" cy="438912"/>
          </a:xfrm>
          <a:prstGeom prst="rect">
            <a:avLst/>
          </a:prstGeom>
          <a:solidFill>
            <a:srgbClr val="E8F5E9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29400" y="170992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7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274320" y="2185416"/>
            <a:ext cx="2377440" cy="438912"/>
          </a:xfrm>
          <a:prstGeom prst="rect">
            <a:avLst/>
          </a:prstGeom>
          <a:solidFill>
            <a:srgbClr val="F8F6F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2185416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0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Skill Graph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697480" y="2185416"/>
            <a:ext cx="1920240" cy="438912"/>
          </a:xfrm>
          <a:prstGeom prst="rect">
            <a:avLst/>
          </a:prstGeom>
          <a:solidFill>
            <a:srgbClr val="F8F6F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97480" y="2185416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53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663440" y="2185416"/>
            <a:ext cx="1920240" cy="438912"/>
          </a:xfrm>
          <a:prstGeom prst="rect">
            <a:avLst/>
          </a:prstGeom>
          <a:solidFill>
            <a:srgbClr val="F8F6F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63440" y="2185416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A0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629400" y="2185416"/>
            <a:ext cx="1920240" cy="438912"/>
          </a:xfrm>
          <a:prstGeom prst="rect">
            <a:avLst/>
          </a:prstGeom>
          <a:solidFill>
            <a:srgbClr val="E8F5E9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29400" y="2185416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7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274320" y="2660904"/>
            <a:ext cx="2377440" cy="438912"/>
          </a:xfrm>
          <a:prstGeom prst="rect">
            <a:avLst/>
          </a:prstGeom>
          <a:solidFill>
            <a:srgbClr val="EEEBE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2660904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0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Language Support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697480" y="2660904"/>
            <a:ext cx="1920240" cy="438912"/>
          </a:xfrm>
          <a:prstGeom prst="rect">
            <a:avLst/>
          </a:prstGeom>
          <a:solidFill>
            <a:srgbClr val="EEEBE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697480" y="2660904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53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663440" y="2660904"/>
            <a:ext cx="1920240" cy="438912"/>
          </a:xfrm>
          <a:prstGeom prst="rect">
            <a:avLst/>
          </a:prstGeom>
          <a:solidFill>
            <a:srgbClr val="EEEBE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63440" y="2660904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53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629400" y="2660904"/>
            <a:ext cx="1920240" cy="438912"/>
          </a:xfrm>
          <a:prstGeom prst="rect">
            <a:avLst/>
          </a:prstGeom>
          <a:solidFill>
            <a:srgbClr val="E8F5E9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29400" y="2660904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7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274320" y="3136392"/>
            <a:ext cx="2377440" cy="438912"/>
          </a:xfrm>
          <a:prstGeom prst="rect">
            <a:avLst/>
          </a:prstGeom>
          <a:solidFill>
            <a:srgbClr val="F8F6F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4320" y="3136392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0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Bias-Blind Screening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697480" y="3136392"/>
            <a:ext cx="1920240" cy="438912"/>
          </a:xfrm>
          <a:prstGeom prst="rect">
            <a:avLst/>
          </a:prstGeom>
          <a:solidFill>
            <a:srgbClr val="F8F6F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697480" y="3136392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53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4663440" y="3136392"/>
            <a:ext cx="1920240" cy="438912"/>
          </a:xfrm>
          <a:prstGeom prst="rect">
            <a:avLst/>
          </a:prstGeom>
          <a:solidFill>
            <a:srgbClr val="F8F6F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663440" y="3136392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53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6629400" y="3136392"/>
            <a:ext cx="1920240" cy="438912"/>
          </a:xfrm>
          <a:prstGeom prst="rect">
            <a:avLst/>
          </a:prstGeom>
          <a:solidFill>
            <a:srgbClr val="E8F5E9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629400" y="3136392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7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274320" y="3611880"/>
            <a:ext cx="2377440" cy="438912"/>
          </a:xfrm>
          <a:prstGeom prst="rect">
            <a:avLst/>
          </a:prstGeom>
          <a:solidFill>
            <a:srgbClr val="EEEBE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74320" y="361188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0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for Small Companies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2697480" y="3611880"/>
            <a:ext cx="1920240" cy="438912"/>
          </a:xfrm>
          <a:prstGeom prst="rect">
            <a:avLst/>
          </a:prstGeom>
          <a:solidFill>
            <a:srgbClr val="EEEBE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697480" y="361188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A0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4663440" y="3611880"/>
            <a:ext cx="1920240" cy="438912"/>
          </a:xfrm>
          <a:prstGeom prst="rect">
            <a:avLst/>
          </a:prstGeom>
          <a:solidFill>
            <a:srgbClr val="EEEBE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663440" y="361188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A0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Very High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6629400" y="3611880"/>
            <a:ext cx="1920240" cy="438912"/>
          </a:xfrm>
          <a:prstGeom prst="rect">
            <a:avLst/>
          </a:prstGeom>
          <a:solidFill>
            <a:srgbClr val="FFEDE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629400" y="361188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4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₹4,999/mo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274320" y="4160520"/>
            <a:ext cx="2743200" cy="868680"/>
          </a:xfrm>
          <a:prstGeom prst="rect">
            <a:avLst/>
          </a:prstGeom>
          <a:solidFill>
            <a:srgbClr val="0A0A0F"/>
          </a:solidFill>
          <a:ln w="19050">
            <a:solidFill>
              <a:srgbClr val="FF4D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384048" y="4206240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 Bias-Blind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384048" y="4544568"/>
            <a:ext cx="2523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name hidden until final round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3200400" y="4160520"/>
            <a:ext cx="2743200" cy="868680"/>
          </a:xfrm>
          <a:prstGeom prst="rect">
            <a:avLst/>
          </a:prstGeom>
          <a:solidFill>
            <a:srgbClr val="0A0A0F"/>
          </a:solidFill>
          <a:ln w="19050">
            <a:solidFill>
              <a:srgbClr val="FF4D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5" name="Text 63"/>
          <p:cNvSpPr/>
          <p:nvPr/>
        </p:nvSpPr>
        <p:spPr>
          <a:xfrm>
            <a:off x="3310128" y="4206240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🔦  Hidden Strengths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3310128" y="4544568"/>
            <a:ext cx="2523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finds skills you never thought to list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6126480" y="4160520"/>
            <a:ext cx="2743200" cy="868680"/>
          </a:xfrm>
          <a:prstGeom prst="rect">
            <a:avLst/>
          </a:prstGeom>
          <a:solidFill>
            <a:srgbClr val="0A0A0F"/>
          </a:solidFill>
          <a:ln w="19050">
            <a:solidFill>
              <a:srgbClr val="FF4D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8" name="Text 66"/>
          <p:cNvSpPr/>
          <p:nvPr/>
        </p:nvSpPr>
        <p:spPr>
          <a:xfrm>
            <a:off x="6236208" y="4206240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  Network Moat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6236208" y="4544568"/>
            <a:ext cx="2523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candidates → better AI → more companies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4D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LIST OF FEATURES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621792"/>
            <a:ext cx="1645920" cy="45720"/>
          </a:xfrm>
          <a:prstGeom prst="rect">
            <a:avLst/>
          </a:prstGeom>
          <a:solidFill>
            <a:srgbClr val="FF4D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822960"/>
            <a:ext cx="2743200" cy="1828800"/>
          </a:xfrm>
          <a:prstGeom prst="rect">
            <a:avLst/>
          </a:prstGeom>
          <a:solidFill>
            <a:srgbClr val="14141E"/>
          </a:solidFill>
          <a:ln w="12700">
            <a:solidFill>
              <a:srgbClr val="2A2A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822960"/>
            <a:ext cx="2743200" cy="54864"/>
          </a:xfrm>
          <a:prstGeom prst="rect">
            <a:avLst/>
          </a:prstGeom>
          <a:solidFill>
            <a:srgbClr val="FF4D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987552"/>
            <a:ext cx="475488" cy="475488"/>
          </a:xfrm>
          <a:prstGeom prst="ellipse">
            <a:avLst/>
          </a:prstGeom>
          <a:solidFill>
            <a:srgbClr val="FF4D00">
              <a:alpha val="20000"/>
            </a:srgbClr>
          </a:solidFill>
          <a:ln w="12700">
            <a:solidFill>
              <a:srgbClr val="FF4D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9875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🧠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41832" y="98755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Skill Graph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1572768"/>
            <a:ext cx="24871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Analyses GitHub, Kaggle &amp; deployed projects. Scores 12 skill dimensions. Updates live as you build.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154680" y="822960"/>
            <a:ext cx="2743200" cy="1828800"/>
          </a:xfrm>
          <a:prstGeom prst="rect">
            <a:avLst/>
          </a:prstGeom>
          <a:solidFill>
            <a:srgbClr val="14141E"/>
          </a:solidFill>
          <a:ln w="12700">
            <a:solidFill>
              <a:srgbClr val="2A2A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54680" y="822960"/>
            <a:ext cx="2743200" cy="54864"/>
          </a:xfrm>
          <a:prstGeom prst="rect">
            <a:avLst/>
          </a:prstGeom>
          <a:solidFill>
            <a:srgbClr val="FFB8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91840" y="987552"/>
            <a:ext cx="475488" cy="475488"/>
          </a:xfrm>
          <a:prstGeom prst="ellipse">
            <a:avLst/>
          </a:prstGeom>
          <a:solidFill>
            <a:srgbClr val="FFB800">
              <a:alpha val="20000"/>
            </a:srgbClr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9875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🔦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867912" y="98755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 Strength Detector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91840" y="1572768"/>
            <a:ext cx="24871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Finds skills you never listed — code review quality, ship speed, bug rate. Makes the invisible undeniable.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080760" y="822960"/>
            <a:ext cx="2743200" cy="1828800"/>
          </a:xfrm>
          <a:prstGeom prst="rect">
            <a:avLst/>
          </a:prstGeom>
          <a:solidFill>
            <a:srgbClr val="14141E"/>
          </a:solidFill>
          <a:ln w="12700">
            <a:solidFill>
              <a:srgbClr val="2A2A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80760" y="822960"/>
            <a:ext cx="2743200" cy="54864"/>
          </a:xfrm>
          <a:prstGeom prst="rect">
            <a:avLst/>
          </a:prstGeom>
          <a:solidFill>
            <a:srgbClr val="00C5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0" y="987552"/>
            <a:ext cx="475488" cy="475488"/>
          </a:xfrm>
          <a:prstGeom prst="ellipse">
            <a:avLst/>
          </a:prstGeom>
          <a:solidFill>
            <a:srgbClr val="00C566">
              <a:alpha val="20000"/>
            </a:srgbClr>
          </a:solidFill>
          <a:ln w="12700">
            <a:solidFill>
              <a:srgbClr val="00C5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9875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🎯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793992" y="98755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Role-Fit Engine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17920" y="1572768"/>
            <a:ext cx="24871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any JD → ranked candidate list with AI reasoning. 94% accuracy vs 40% for DSA rounds.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28600" y="2880360"/>
            <a:ext cx="2743200" cy="1828800"/>
          </a:xfrm>
          <a:prstGeom prst="rect">
            <a:avLst/>
          </a:prstGeom>
          <a:solidFill>
            <a:srgbClr val="14141E"/>
          </a:solidFill>
          <a:ln w="12700">
            <a:solidFill>
              <a:srgbClr val="2A2A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28600" y="2880360"/>
            <a:ext cx="2743200" cy="54864"/>
          </a:xfrm>
          <a:prstGeom prst="rect">
            <a:avLst/>
          </a:prstGeom>
          <a:solidFill>
            <a:srgbClr val="0057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3044952"/>
            <a:ext cx="475488" cy="475488"/>
          </a:xfrm>
          <a:prstGeom prst="ellipse">
            <a:avLst/>
          </a:prstGeom>
          <a:solidFill>
            <a:srgbClr val="0057FF">
              <a:alpha val="20000"/>
            </a:srgbClr>
          </a:solidFill>
          <a:ln w="12700">
            <a:solidFill>
              <a:srgbClr val="0057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0449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41832" y="304495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Challenges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65760" y="3630168"/>
            <a:ext cx="24871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generates role-specific 2-hr tasks. Not Leetcode. Actual day-1 work evaluated on creativity.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154680" y="2880360"/>
            <a:ext cx="2743200" cy="1828800"/>
          </a:xfrm>
          <a:prstGeom prst="rect">
            <a:avLst/>
          </a:prstGeom>
          <a:solidFill>
            <a:srgbClr val="14141E"/>
          </a:solidFill>
          <a:ln w="12700">
            <a:solidFill>
              <a:srgbClr val="2A2A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154680" y="2880360"/>
            <a:ext cx="2743200" cy="54864"/>
          </a:xfrm>
          <a:prstGeom prst="rect">
            <a:avLst/>
          </a:prstGeom>
          <a:solidFill>
            <a:srgbClr val="9B59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91840" y="3044952"/>
            <a:ext cx="475488" cy="475488"/>
          </a:xfrm>
          <a:prstGeom prst="ellipse">
            <a:avLst/>
          </a:prstGeom>
          <a:solidFill>
            <a:srgbClr val="9B59B6">
              <a:alpha val="20000"/>
            </a:srgbClr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91840" y="30449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🫥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867912" y="304495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Bias-Blind Screening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291840" y="3630168"/>
            <a:ext cx="24871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name hidden until final round. Company hires on skills. Human makes the final call.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080760" y="2880360"/>
            <a:ext cx="2743200" cy="1828800"/>
          </a:xfrm>
          <a:prstGeom prst="rect">
            <a:avLst/>
          </a:prstGeom>
          <a:solidFill>
            <a:srgbClr val="14141E"/>
          </a:solidFill>
          <a:ln w="12700">
            <a:solidFill>
              <a:srgbClr val="2A2A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080760" y="2880360"/>
            <a:ext cx="2743200" cy="54864"/>
          </a:xfrm>
          <a:prstGeom prst="rect">
            <a:avLst/>
          </a:prstGeom>
          <a:solidFill>
            <a:srgbClr val="FF4D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17920" y="3044952"/>
            <a:ext cx="475488" cy="475488"/>
          </a:xfrm>
          <a:prstGeom prst="ellipse">
            <a:avLst/>
          </a:prstGeom>
          <a:solidFill>
            <a:srgbClr val="FF4D00">
              <a:alpha val="20000"/>
            </a:srgbClr>
          </a:solidFill>
          <a:ln w="12700">
            <a:solidFill>
              <a:srgbClr val="FF4D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17920" y="30449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📍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793992" y="304495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Gap Roadmap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217920" y="3630168"/>
            <a:ext cx="24871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Personalised 30-day build plan to hit 90%+ fit on your target role. Track progress in-app.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0A0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94360"/>
          </a:xfrm>
          <a:prstGeom prst="rect">
            <a:avLst/>
          </a:prstGeom>
          <a:solidFill>
            <a:srgbClr val="FF4D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FLOW DIAGRAM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4320" y="6858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B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JOURNEY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6032" y="1078992"/>
            <a:ext cx="1188720" cy="1005840"/>
          </a:xfrm>
          <a:prstGeom prst="rect">
            <a:avLst/>
          </a:prstGeom>
          <a:solidFill>
            <a:srgbClr val="1A1A30"/>
          </a:solidFill>
          <a:ln w="19050">
            <a:solidFill>
              <a:srgbClr val="FF4D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67512" y="1005840"/>
            <a:ext cx="384048" cy="384048"/>
          </a:xfrm>
          <a:prstGeom prst="ellipse">
            <a:avLst/>
          </a:prstGeom>
          <a:solidFill>
            <a:srgbClr val="FF4D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1005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56032" y="11430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🐙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56032" y="15087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Up &amp;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GitHub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444752" y="1581912"/>
            <a:ext cx="274320" cy="0"/>
          </a:xfrm>
          <a:prstGeom prst="line">
            <a:avLst/>
          </a:prstGeom>
          <a:noFill/>
          <a:ln w="25400">
            <a:solidFill>
              <a:srgbClr val="FF4D00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1463040" y="1481328"/>
            <a:ext cx="237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4D00"/>
                </a:solidFill>
              </a:rPr>
              <a:t>→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719072" y="1078992"/>
            <a:ext cx="1188720" cy="1005840"/>
          </a:xfrm>
          <a:prstGeom prst="rect">
            <a:avLst/>
          </a:prstGeom>
          <a:solidFill>
            <a:srgbClr val="1A1A30"/>
          </a:solidFill>
          <a:ln w="19050">
            <a:solidFill>
              <a:srgbClr val="FF4D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130552" y="1005840"/>
            <a:ext cx="384048" cy="384048"/>
          </a:xfrm>
          <a:prstGeom prst="ellipse">
            <a:avLst/>
          </a:prstGeom>
          <a:solidFill>
            <a:srgbClr val="FF4D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30552" y="1005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719072" y="11430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🧠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719072" y="15087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Analyses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Repositories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907792" y="1581912"/>
            <a:ext cx="274320" cy="0"/>
          </a:xfrm>
          <a:prstGeom prst="line">
            <a:avLst/>
          </a:prstGeom>
          <a:noFill/>
          <a:ln w="25400">
            <a:solidFill>
              <a:srgbClr val="FF4D00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2926080" y="1481328"/>
            <a:ext cx="237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4D00"/>
                </a:solidFill>
              </a:rPr>
              <a:t>→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182112" y="1078992"/>
            <a:ext cx="1188720" cy="1005840"/>
          </a:xfrm>
          <a:prstGeom prst="rect">
            <a:avLst/>
          </a:prstGeom>
          <a:solidFill>
            <a:srgbClr val="1A1A30"/>
          </a:solidFill>
          <a:ln w="19050">
            <a:solidFill>
              <a:srgbClr val="FF4D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593592" y="1005840"/>
            <a:ext cx="384048" cy="384048"/>
          </a:xfrm>
          <a:prstGeom prst="ellipse">
            <a:avLst/>
          </a:prstGeom>
          <a:solidFill>
            <a:srgbClr val="FF4D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93592" y="1005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182112" y="11430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182112" y="15087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Graph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370832" y="1581912"/>
            <a:ext cx="274320" cy="0"/>
          </a:xfrm>
          <a:prstGeom prst="line">
            <a:avLst/>
          </a:prstGeom>
          <a:noFill/>
          <a:ln w="25400">
            <a:solidFill>
              <a:srgbClr val="FF4D0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4389120" y="1481328"/>
            <a:ext cx="237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4D00"/>
                </a:solidFill>
              </a:rPr>
              <a:t>→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645152" y="1078992"/>
            <a:ext cx="1188720" cy="1005840"/>
          </a:xfrm>
          <a:prstGeom prst="rect">
            <a:avLst/>
          </a:prstGeom>
          <a:solidFill>
            <a:srgbClr val="1A1A30"/>
          </a:solidFill>
          <a:ln w="19050">
            <a:solidFill>
              <a:srgbClr val="FF4D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056632" y="1005840"/>
            <a:ext cx="384048" cy="384048"/>
          </a:xfrm>
          <a:prstGeom prst="ellipse">
            <a:avLst/>
          </a:prstGeom>
          <a:solidFill>
            <a:srgbClr val="FF4D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56632" y="1005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645152" y="11430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4645152" y="15087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to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833872" y="1581912"/>
            <a:ext cx="274320" cy="0"/>
          </a:xfrm>
          <a:prstGeom prst="line">
            <a:avLst/>
          </a:prstGeom>
          <a:noFill/>
          <a:ln w="25400">
            <a:solidFill>
              <a:srgbClr val="FF4D0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5852160" y="1481328"/>
            <a:ext cx="237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4D00"/>
                </a:solidFill>
              </a:rPr>
              <a:t>→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108192" y="1078992"/>
            <a:ext cx="1188720" cy="1005840"/>
          </a:xfrm>
          <a:prstGeom prst="rect">
            <a:avLst/>
          </a:prstGeom>
          <a:solidFill>
            <a:srgbClr val="1A1A30"/>
          </a:solidFill>
          <a:ln w="19050">
            <a:solidFill>
              <a:srgbClr val="FF4D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519672" y="1005840"/>
            <a:ext cx="384048" cy="384048"/>
          </a:xfrm>
          <a:prstGeom prst="ellipse">
            <a:avLst/>
          </a:prstGeom>
          <a:solidFill>
            <a:srgbClr val="FF4D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19672" y="1005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108192" y="11430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6108192" y="15087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7296912" y="1581912"/>
            <a:ext cx="274320" cy="0"/>
          </a:xfrm>
          <a:prstGeom prst="line">
            <a:avLst/>
          </a:prstGeom>
          <a:noFill/>
          <a:ln w="25400">
            <a:solidFill>
              <a:srgbClr val="FF4D00"/>
            </a:solidFill>
            <a:prstDash val="dash"/>
          </a:ln>
        </p:spPr>
      </p:sp>
      <p:sp>
        <p:nvSpPr>
          <p:cNvPr id="40" name="Text 38"/>
          <p:cNvSpPr/>
          <p:nvPr/>
        </p:nvSpPr>
        <p:spPr>
          <a:xfrm>
            <a:off x="7315200" y="1481328"/>
            <a:ext cx="237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4D00"/>
                </a:solidFill>
              </a:rPr>
              <a:t>→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571232" y="1078992"/>
            <a:ext cx="1188720" cy="1005840"/>
          </a:xfrm>
          <a:prstGeom prst="rect">
            <a:avLst/>
          </a:prstGeom>
          <a:solidFill>
            <a:srgbClr val="1A1A30"/>
          </a:solidFill>
          <a:ln w="19050">
            <a:solidFill>
              <a:srgbClr val="FF4D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982712" y="1005840"/>
            <a:ext cx="384048" cy="384048"/>
          </a:xfrm>
          <a:prstGeom prst="ellipse">
            <a:avLst/>
          </a:prstGeom>
          <a:solidFill>
            <a:srgbClr val="FF4D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982712" y="1005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571232" y="11430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🤝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7571232" y="15087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Decides ✓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274320" y="2240280"/>
            <a:ext cx="8595360" cy="18288"/>
          </a:xfrm>
          <a:prstGeom prst="rect">
            <a:avLst/>
          </a:prstGeom>
          <a:solidFill>
            <a:srgbClr val="3333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4320" y="23317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JOURNEY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56032" y="2743200"/>
            <a:ext cx="1188720" cy="1005840"/>
          </a:xfrm>
          <a:prstGeom prst="rect">
            <a:avLst/>
          </a:prstGeom>
          <a:solidFill>
            <a:srgbClr val="0A2010"/>
          </a:solidFill>
          <a:ln w="19050">
            <a:solidFill>
              <a:srgbClr val="00C5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67512" y="2670048"/>
            <a:ext cx="384048" cy="384048"/>
          </a:xfrm>
          <a:prstGeom prst="ellipse">
            <a:avLst/>
          </a:prstGeom>
          <a:solidFill>
            <a:srgbClr val="00C5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67512" y="2670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256032" y="281635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256032" y="318211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Role in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 Language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444752" y="3246120"/>
            <a:ext cx="274320" cy="0"/>
          </a:xfrm>
          <a:prstGeom prst="line">
            <a:avLst/>
          </a:prstGeom>
          <a:noFill/>
          <a:ln w="25400">
            <a:solidFill>
              <a:srgbClr val="00C566"/>
            </a:solidFill>
            <a:prstDash val="dash"/>
          </a:ln>
        </p:spPr>
      </p:sp>
      <p:sp>
        <p:nvSpPr>
          <p:cNvPr id="54" name="Text 52"/>
          <p:cNvSpPr/>
          <p:nvPr/>
        </p:nvSpPr>
        <p:spPr>
          <a:xfrm>
            <a:off x="1463040" y="3145536"/>
            <a:ext cx="237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C566"/>
                </a:solidFill>
              </a:rPr>
              <a:t>→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1719072" y="2743200"/>
            <a:ext cx="1188720" cy="1005840"/>
          </a:xfrm>
          <a:prstGeom prst="rect">
            <a:avLst/>
          </a:prstGeom>
          <a:solidFill>
            <a:srgbClr val="0A2010"/>
          </a:solidFill>
          <a:ln w="19050">
            <a:solidFill>
              <a:srgbClr val="00C5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2130552" y="2670048"/>
            <a:ext cx="384048" cy="384048"/>
          </a:xfrm>
          <a:prstGeom prst="ellipse">
            <a:avLst/>
          </a:prstGeom>
          <a:solidFill>
            <a:srgbClr val="00C5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130552" y="2670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1719072" y="281635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59" name="Text 57"/>
          <p:cNvSpPr/>
          <p:nvPr/>
        </p:nvSpPr>
        <p:spPr>
          <a:xfrm>
            <a:off x="1719072" y="318211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Matches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 to Skills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2907792" y="3246120"/>
            <a:ext cx="274320" cy="0"/>
          </a:xfrm>
          <a:prstGeom prst="line">
            <a:avLst/>
          </a:prstGeom>
          <a:noFill/>
          <a:ln w="25400">
            <a:solidFill>
              <a:srgbClr val="00C566"/>
            </a:solidFill>
            <a:prstDash val="dash"/>
          </a:ln>
        </p:spPr>
      </p:sp>
      <p:sp>
        <p:nvSpPr>
          <p:cNvPr id="61" name="Text 59"/>
          <p:cNvSpPr/>
          <p:nvPr/>
        </p:nvSpPr>
        <p:spPr>
          <a:xfrm>
            <a:off x="2926080" y="3145536"/>
            <a:ext cx="237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C566"/>
                </a:solidFill>
              </a:rPr>
              <a:t>→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3182112" y="2743200"/>
            <a:ext cx="1188720" cy="1005840"/>
          </a:xfrm>
          <a:prstGeom prst="rect">
            <a:avLst/>
          </a:prstGeom>
          <a:solidFill>
            <a:srgbClr val="0A2010"/>
          </a:solidFill>
          <a:ln w="19050">
            <a:solidFill>
              <a:srgbClr val="00C5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3593592" y="2670048"/>
            <a:ext cx="384048" cy="384048"/>
          </a:xfrm>
          <a:prstGeom prst="ellipse">
            <a:avLst/>
          </a:prstGeom>
          <a:solidFill>
            <a:srgbClr val="00C5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593592" y="2670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3182112" y="281635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🏆</a:t>
            </a:r>
            <a:endParaRPr lang="en-US" sz="1800" dirty="0"/>
          </a:p>
        </p:txBody>
      </p:sp>
      <p:sp>
        <p:nvSpPr>
          <p:cNvPr id="66" name="Text 64"/>
          <p:cNvSpPr/>
          <p:nvPr/>
        </p:nvSpPr>
        <p:spPr>
          <a:xfrm>
            <a:off x="3182112" y="318211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Ranked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Leaderboard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4370832" y="3246120"/>
            <a:ext cx="274320" cy="0"/>
          </a:xfrm>
          <a:prstGeom prst="line">
            <a:avLst/>
          </a:prstGeom>
          <a:noFill/>
          <a:ln w="25400">
            <a:solidFill>
              <a:srgbClr val="00C566"/>
            </a:solidFill>
            <a:prstDash val="dash"/>
          </a:ln>
        </p:spPr>
      </p:sp>
      <p:sp>
        <p:nvSpPr>
          <p:cNvPr id="68" name="Text 66"/>
          <p:cNvSpPr/>
          <p:nvPr/>
        </p:nvSpPr>
        <p:spPr>
          <a:xfrm>
            <a:off x="4389120" y="3145536"/>
            <a:ext cx="237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C566"/>
                </a:solidFill>
              </a:rPr>
              <a:t>→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4645152" y="2743200"/>
            <a:ext cx="1188720" cy="1005840"/>
          </a:xfrm>
          <a:prstGeom prst="rect">
            <a:avLst/>
          </a:prstGeom>
          <a:solidFill>
            <a:srgbClr val="0A2010"/>
          </a:solidFill>
          <a:ln w="19050">
            <a:solidFill>
              <a:srgbClr val="00C5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5056632" y="2670048"/>
            <a:ext cx="384048" cy="384048"/>
          </a:xfrm>
          <a:prstGeom prst="ellipse">
            <a:avLst/>
          </a:prstGeom>
          <a:solidFill>
            <a:srgbClr val="00C5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056632" y="2670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4645152" y="281635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🫥</a:t>
            </a:r>
            <a:endParaRPr lang="en-US" sz="1800" dirty="0"/>
          </a:p>
        </p:txBody>
      </p:sp>
      <p:sp>
        <p:nvSpPr>
          <p:cNvPr id="73" name="Text 71"/>
          <p:cNvSpPr/>
          <p:nvPr/>
        </p:nvSpPr>
        <p:spPr>
          <a:xfrm>
            <a:off x="4645152" y="318211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Hidden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5833872" y="3246120"/>
            <a:ext cx="274320" cy="0"/>
          </a:xfrm>
          <a:prstGeom prst="line">
            <a:avLst/>
          </a:prstGeom>
          <a:noFill/>
          <a:ln w="25400">
            <a:solidFill>
              <a:srgbClr val="00C566"/>
            </a:solidFill>
            <a:prstDash val="dash"/>
          </a:ln>
        </p:spPr>
      </p:sp>
      <p:sp>
        <p:nvSpPr>
          <p:cNvPr id="75" name="Text 73"/>
          <p:cNvSpPr/>
          <p:nvPr/>
        </p:nvSpPr>
        <p:spPr>
          <a:xfrm>
            <a:off x="5852160" y="3145536"/>
            <a:ext cx="237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C566"/>
                </a:solidFill>
              </a:rPr>
              <a:t>→</a:t>
            </a:r>
            <a:endParaRPr lang="en-US" sz="1200" dirty="0"/>
          </a:p>
        </p:txBody>
      </p:sp>
      <p:sp>
        <p:nvSpPr>
          <p:cNvPr id="76" name="Shape 74"/>
          <p:cNvSpPr/>
          <p:nvPr/>
        </p:nvSpPr>
        <p:spPr>
          <a:xfrm>
            <a:off x="6108192" y="2743200"/>
            <a:ext cx="1188720" cy="1005840"/>
          </a:xfrm>
          <a:prstGeom prst="rect">
            <a:avLst/>
          </a:prstGeom>
          <a:solidFill>
            <a:srgbClr val="0A2010"/>
          </a:solidFill>
          <a:ln w="19050">
            <a:solidFill>
              <a:srgbClr val="00C5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7" name="Shape 75"/>
          <p:cNvSpPr/>
          <p:nvPr/>
        </p:nvSpPr>
        <p:spPr>
          <a:xfrm>
            <a:off x="6519672" y="2670048"/>
            <a:ext cx="384048" cy="384048"/>
          </a:xfrm>
          <a:prstGeom prst="ellipse">
            <a:avLst/>
          </a:prstGeom>
          <a:solidFill>
            <a:srgbClr val="00C5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519672" y="2670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6108192" y="281635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📈</a:t>
            </a:r>
            <a:endParaRPr lang="en-US" sz="1800" dirty="0"/>
          </a:p>
        </p:txBody>
      </p:sp>
      <p:sp>
        <p:nvSpPr>
          <p:cNvPr id="80" name="Text 78"/>
          <p:cNvSpPr/>
          <p:nvPr/>
        </p:nvSpPr>
        <p:spPr>
          <a:xfrm>
            <a:off x="6108192" y="318211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AI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7296912" y="3246120"/>
            <a:ext cx="274320" cy="0"/>
          </a:xfrm>
          <a:prstGeom prst="line">
            <a:avLst/>
          </a:prstGeom>
          <a:noFill/>
          <a:ln w="25400">
            <a:solidFill>
              <a:srgbClr val="00C566"/>
            </a:solidFill>
            <a:prstDash val="dash"/>
          </a:ln>
        </p:spPr>
      </p:sp>
      <p:sp>
        <p:nvSpPr>
          <p:cNvPr id="82" name="Text 80"/>
          <p:cNvSpPr/>
          <p:nvPr/>
        </p:nvSpPr>
        <p:spPr>
          <a:xfrm>
            <a:off x="7315200" y="3145536"/>
            <a:ext cx="237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C566"/>
                </a:solidFill>
              </a:rPr>
              <a:t>→</a:t>
            </a:r>
            <a:endParaRPr lang="en-US" sz="1200" dirty="0"/>
          </a:p>
        </p:txBody>
      </p:sp>
      <p:sp>
        <p:nvSpPr>
          <p:cNvPr id="83" name="Shape 81"/>
          <p:cNvSpPr/>
          <p:nvPr/>
        </p:nvSpPr>
        <p:spPr>
          <a:xfrm>
            <a:off x="7571232" y="2743200"/>
            <a:ext cx="1188720" cy="1005840"/>
          </a:xfrm>
          <a:prstGeom prst="rect">
            <a:avLst/>
          </a:prstGeom>
          <a:solidFill>
            <a:srgbClr val="0A2010"/>
          </a:solidFill>
          <a:ln w="19050">
            <a:solidFill>
              <a:srgbClr val="00C5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4" name="Shape 82"/>
          <p:cNvSpPr/>
          <p:nvPr/>
        </p:nvSpPr>
        <p:spPr>
          <a:xfrm>
            <a:off x="7982712" y="2670048"/>
            <a:ext cx="384048" cy="384048"/>
          </a:xfrm>
          <a:prstGeom prst="ellipse">
            <a:avLst/>
          </a:prstGeom>
          <a:solidFill>
            <a:srgbClr val="00C5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7982712" y="2670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86" name="Text 84"/>
          <p:cNvSpPr/>
          <p:nvPr/>
        </p:nvSpPr>
        <p:spPr>
          <a:xfrm>
            <a:off x="7571232" y="281635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87" name="Text 85"/>
          <p:cNvSpPr/>
          <p:nvPr/>
        </p:nvSpPr>
        <p:spPr>
          <a:xfrm>
            <a:off x="7571232" y="318211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Hire Best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✓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274320" y="3950208"/>
            <a:ext cx="8595360" cy="822960"/>
          </a:xfrm>
          <a:prstGeom prst="rect">
            <a:avLst/>
          </a:prstGeom>
          <a:solidFill>
            <a:srgbClr val="1A0800"/>
          </a:solidFill>
          <a:ln w="19050">
            <a:solidFill>
              <a:srgbClr val="FFB8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9" name="Text 87"/>
          <p:cNvSpPr/>
          <p:nvPr/>
        </p:nvSpPr>
        <p:spPr>
          <a:xfrm>
            <a:off x="457200" y="400507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B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⚖  KEY PRINCIPLE:</a:t>
            </a:r>
            <a:endParaRPr lang="en-US" sz="1000" dirty="0"/>
          </a:p>
        </p:txBody>
      </p:sp>
      <p:sp>
        <p:nvSpPr>
          <p:cNvPr id="90" name="Text 88"/>
          <p:cNvSpPr/>
          <p:nvPr/>
        </p:nvSpPr>
        <p:spPr>
          <a:xfrm>
            <a:off x="1920240" y="4005072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DD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always makes the final hiring decision. AI provides the signal — Humans provide the judgment. No automated rejection.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0A0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94360"/>
          </a:xfrm>
          <a:prstGeom prst="rect">
            <a:avLst/>
          </a:prstGeom>
          <a:solidFill>
            <a:srgbClr val="FF4D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WIREFRAMES  —  Product Screens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28600" y="685800"/>
            <a:ext cx="2103120" cy="4297680"/>
          </a:xfrm>
          <a:prstGeom prst="rect">
            <a:avLst/>
          </a:prstGeom>
          <a:solidFill>
            <a:srgbClr val="F0EEE8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685800"/>
            <a:ext cx="2103120" cy="292608"/>
          </a:xfrm>
          <a:prstGeom prst="rect">
            <a:avLst/>
          </a:prstGeom>
          <a:solidFill>
            <a:srgbClr val="FF4D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1752" y="749808"/>
            <a:ext cx="164592" cy="16459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749808"/>
            <a:ext cx="164592" cy="16459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04088" y="749808"/>
            <a:ext cx="164592" cy="16459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1752" y="978408"/>
            <a:ext cx="1956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4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GRAPH — Priya Reddy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01752" y="1234440"/>
            <a:ext cx="1956816" cy="128016"/>
          </a:xfrm>
          <a:prstGeom prst="rect">
            <a:avLst/>
          </a:prstGeom>
          <a:solidFill>
            <a:srgbClr val="E0DDD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1752" y="1234440"/>
            <a:ext cx="1878543" cy="128016"/>
          </a:xfrm>
          <a:prstGeom prst="rect">
            <a:avLst/>
          </a:prstGeom>
          <a:solidFill>
            <a:srgbClr val="FF4D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1752" y="1362456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A0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/ Frontend  96%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301752" y="1545336"/>
            <a:ext cx="1956816" cy="128016"/>
          </a:xfrm>
          <a:prstGeom prst="rect">
            <a:avLst/>
          </a:prstGeom>
          <a:solidFill>
            <a:srgbClr val="E0DDD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1752" y="1545336"/>
            <a:ext cx="1780703" cy="128016"/>
          </a:xfrm>
          <a:prstGeom prst="rect">
            <a:avLst/>
          </a:prstGeom>
          <a:solidFill>
            <a:srgbClr val="0057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1752" y="1673352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A0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Quality  91%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301752" y="1856232"/>
            <a:ext cx="1956816" cy="128016"/>
          </a:xfrm>
          <a:prstGeom prst="rect">
            <a:avLst/>
          </a:prstGeom>
          <a:solidFill>
            <a:srgbClr val="E0DDD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01752" y="1856232"/>
            <a:ext cx="1721998" cy="128016"/>
          </a:xfrm>
          <a:prstGeom prst="rect">
            <a:avLst/>
          </a:prstGeom>
          <a:solidFill>
            <a:srgbClr val="00C5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1752" y="1984248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A0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Design  88%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301752" y="2167128"/>
            <a:ext cx="1956816" cy="128016"/>
          </a:xfrm>
          <a:prstGeom prst="rect">
            <a:avLst/>
          </a:prstGeom>
          <a:solidFill>
            <a:srgbClr val="E0DDD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01752" y="2167128"/>
            <a:ext cx="1741566" cy="128016"/>
          </a:xfrm>
          <a:prstGeom prst="rect">
            <a:avLst/>
          </a:prstGeom>
          <a:solidFill>
            <a:srgbClr val="FFB8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1752" y="2295144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A0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UI/UX Sensibility  89%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301752" y="2478024"/>
            <a:ext cx="1956816" cy="128016"/>
          </a:xfrm>
          <a:prstGeom prst="rect">
            <a:avLst/>
          </a:prstGeom>
          <a:solidFill>
            <a:srgbClr val="E0DDD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01752" y="2478024"/>
            <a:ext cx="1839407" cy="128016"/>
          </a:xfrm>
          <a:prstGeom prst="rect">
            <a:avLst/>
          </a:prstGeom>
          <a:solidFill>
            <a:srgbClr val="9B59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1752" y="2606040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A0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Shipping Speed  94%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301752" y="2715768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AA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🔦 Hidden: Ships 3× faster avg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301752" y="2990088"/>
            <a:ext cx="1261872" cy="219456"/>
          </a:xfrm>
          <a:prstGeom prst="rect">
            <a:avLst/>
          </a:prstGeom>
          <a:solidFill>
            <a:srgbClr val="E8F5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01752" y="2990088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B7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GITHUB VERIFIED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301752" y="3300984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A0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Role-Fit Score: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01752" y="3575304"/>
            <a:ext cx="1261872" cy="219456"/>
          </a:xfrm>
          <a:prstGeom prst="rect">
            <a:avLst/>
          </a:prstGeom>
          <a:solidFill>
            <a:srgbClr val="FFF0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01752" y="3575304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4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94% — Frontend @ Zepto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301752" y="3867912"/>
            <a:ext cx="1261872" cy="219456"/>
          </a:xfrm>
          <a:prstGeom prst="rect">
            <a:avLst/>
          </a:prstGeom>
          <a:solidFill>
            <a:srgbClr val="FCE4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01752" y="3867912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53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DSA REJECTED (same company)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2423160" y="685800"/>
            <a:ext cx="2743200" cy="4297680"/>
          </a:xfrm>
          <a:prstGeom prst="rect">
            <a:avLst/>
          </a:prstGeom>
          <a:solidFill>
            <a:srgbClr val="F0EEE8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423160" y="685800"/>
            <a:ext cx="2743200" cy="292608"/>
          </a:xfrm>
          <a:prstGeom prst="rect">
            <a:avLst/>
          </a:prstGeom>
          <a:solidFill>
            <a:srgbClr val="0057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496312" y="749808"/>
            <a:ext cx="164592" cy="16459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697480" y="749808"/>
            <a:ext cx="164592" cy="16459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898648" y="749808"/>
            <a:ext cx="164592" cy="16459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496312" y="978408"/>
            <a:ext cx="2596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05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— Role-Fit Leaderboard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2496312" y="1252728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4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Engineer @ Zepto  •  247 applicants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2496312" y="1527048"/>
            <a:ext cx="1645920" cy="219456"/>
          </a:xfrm>
          <a:prstGeom prst="rect">
            <a:avLst/>
          </a:prstGeom>
          <a:solidFill>
            <a:srgbClr val="E8F5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496312" y="152704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B7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  Priya Reddy — 94% FIT  ⭐ SkillPrint Found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2496312" y="1819656"/>
            <a:ext cx="1645920" cy="219456"/>
          </a:xfrm>
          <a:prstGeom prst="rect">
            <a:avLst/>
          </a:prstGeom>
          <a:solidFill>
            <a:srgbClr val="FCE4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496312" y="181965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53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✕ Was DSA-rejected by you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2496312" y="2130552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A0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#2  Arjun Mehta — 89%  NIT Warangal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2496312" y="2423160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A0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#3  Sneha Iyer — 76%  VIT Chennai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2496312" y="2715768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#47  Rahul Sharma — 41%  IIT Bombay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2496312" y="3008376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Passed DSA ✓ | 1 project | no prod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2496312" y="3300984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──────────────────────────────────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2496312" y="3575304"/>
            <a:ext cx="1645920" cy="219456"/>
          </a:xfrm>
          <a:prstGeom prst="rect">
            <a:avLst/>
          </a:prstGeom>
          <a:solidFill>
            <a:srgbClr val="FFF8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496312" y="357530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CC5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AI Insight: Best candidate was DSA-filtered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5257800" y="685800"/>
            <a:ext cx="2103120" cy="2011680"/>
          </a:xfrm>
          <a:prstGeom prst="rect">
            <a:avLst/>
          </a:prstGeom>
          <a:solidFill>
            <a:srgbClr val="F0EEE8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5257800" y="685800"/>
            <a:ext cx="2103120" cy="292608"/>
          </a:xfrm>
          <a:prstGeom prst="rect">
            <a:avLst/>
          </a:prstGeom>
          <a:solidFill>
            <a:srgbClr val="00C5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330952" y="749808"/>
            <a:ext cx="164592" cy="16459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532120" y="749808"/>
            <a:ext cx="164592" cy="16459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733288" y="749808"/>
            <a:ext cx="164592" cy="16459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330952" y="978408"/>
            <a:ext cx="1956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0C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CHALLENGE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5330952" y="1252728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A0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Role: Frontend Engineer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5330952" y="1545336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Task: Build a product search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5330952" y="1837944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with pagination in 2hrs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5330952" y="2112264"/>
            <a:ext cx="1261872" cy="219456"/>
          </a:xfrm>
          <a:prstGeom prst="rect">
            <a:avLst/>
          </a:prstGeom>
          <a:solidFill>
            <a:srgbClr val="E8F5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330952" y="2112264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B7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Leetcode problem ✓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5257800" y="2816352"/>
            <a:ext cx="2103120" cy="2167128"/>
          </a:xfrm>
          <a:prstGeom prst="rect">
            <a:avLst/>
          </a:prstGeom>
          <a:solidFill>
            <a:srgbClr val="F0EEE8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5257800" y="2816352"/>
            <a:ext cx="2103120" cy="292608"/>
          </a:xfrm>
          <a:prstGeom prst="rect">
            <a:avLst/>
          </a:prstGeom>
          <a:solidFill>
            <a:srgbClr val="FFB8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330952" y="2880360"/>
            <a:ext cx="164592" cy="16459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532120" y="2880360"/>
            <a:ext cx="164592" cy="16459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733288" y="2880360"/>
            <a:ext cx="164592" cy="16459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330952" y="3108960"/>
            <a:ext cx="1956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B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GAP ROADMAP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5330952" y="3383280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A0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gap vs target role: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5330952" y="3675888"/>
            <a:ext cx="1956816" cy="128016"/>
          </a:xfrm>
          <a:prstGeom prst="rect">
            <a:avLst/>
          </a:prstGeom>
          <a:solidFill>
            <a:srgbClr val="E0DDD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330952" y="3675888"/>
            <a:ext cx="880567" cy="128016"/>
          </a:xfrm>
          <a:prstGeom prst="rect">
            <a:avLst/>
          </a:prstGeom>
          <a:solidFill>
            <a:srgbClr val="FFB8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330952" y="3803904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A0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 45%</a:t>
            </a:r>
            <a:endParaRPr lang="en-US" sz="700" dirty="0"/>
          </a:p>
        </p:txBody>
      </p:sp>
      <p:sp>
        <p:nvSpPr>
          <p:cNvPr id="73" name="Shape 71"/>
          <p:cNvSpPr/>
          <p:nvPr/>
        </p:nvSpPr>
        <p:spPr>
          <a:xfrm>
            <a:off x="5330952" y="3986784"/>
            <a:ext cx="1956816" cy="128016"/>
          </a:xfrm>
          <a:prstGeom prst="rect">
            <a:avLst/>
          </a:prstGeom>
          <a:solidFill>
            <a:srgbClr val="E0DDD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5330952" y="3986784"/>
            <a:ext cx="1213226" cy="128016"/>
          </a:xfrm>
          <a:prstGeom prst="rect">
            <a:avLst/>
          </a:prstGeom>
          <a:solidFill>
            <a:srgbClr val="FFB8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330952" y="4114800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A0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Design  62%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5330952" y="4261104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885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 Build in 30 days → 90%+ fit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0A0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94360"/>
          </a:xfrm>
          <a:prstGeom prst="rect">
            <a:avLst/>
          </a:prstGeom>
          <a:solidFill>
            <a:srgbClr val="FF4D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DIAGRAM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28600" y="685800"/>
            <a:ext cx="1828800" cy="1005840"/>
          </a:xfrm>
          <a:prstGeom prst="rect">
            <a:avLst/>
          </a:prstGeom>
          <a:solidFill>
            <a:srgbClr val="13131F"/>
          </a:solidFill>
          <a:ln w="19050">
            <a:solidFill>
              <a:srgbClr val="0057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685800"/>
            <a:ext cx="1828800" cy="292608"/>
          </a:xfrm>
          <a:prstGeom prst="rect">
            <a:avLst/>
          </a:prstGeom>
          <a:solidFill>
            <a:srgbClr val="0057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6858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FRONTEND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033272"/>
            <a:ext cx="109728" cy="109728"/>
          </a:xfrm>
          <a:prstGeom prst="ellipse">
            <a:avLst/>
          </a:prstGeom>
          <a:solidFill>
            <a:srgbClr val="0057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978408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C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Flutter Mobile App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20040" y="1325880"/>
            <a:ext cx="109728" cy="109728"/>
          </a:xfrm>
          <a:prstGeom prst="ellipse">
            <a:avLst/>
          </a:prstGeom>
          <a:solidFill>
            <a:srgbClr val="0057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" y="1271016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C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Web Dashboard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103120" y="1097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55577"/>
                </a:solidFill>
              </a:rPr>
              <a:t>↓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2423160" y="685800"/>
            <a:ext cx="1828800" cy="1005840"/>
          </a:xfrm>
          <a:prstGeom prst="rect">
            <a:avLst/>
          </a:prstGeom>
          <a:solidFill>
            <a:srgbClr val="13131F"/>
          </a:solidFill>
          <a:ln w="19050">
            <a:solidFill>
              <a:srgbClr val="6B46C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23160" y="685800"/>
            <a:ext cx="1828800" cy="292608"/>
          </a:xfrm>
          <a:prstGeom prst="rect">
            <a:avLst/>
          </a:prstGeom>
          <a:solidFill>
            <a:srgbClr val="6B46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14600" y="6858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🔀 API GATEWAY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514600" y="1033272"/>
            <a:ext cx="109728" cy="109728"/>
          </a:xfrm>
          <a:prstGeom prst="ellipse">
            <a:avLst/>
          </a:prstGeom>
          <a:solidFill>
            <a:srgbClr val="6B46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79192" y="978408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C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(Python)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514600" y="1325880"/>
            <a:ext cx="109728" cy="109728"/>
          </a:xfrm>
          <a:prstGeom prst="ellipse">
            <a:avLst/>
          </a:prstGeom>
          <a:solidFill>
            <a:srgbClr val="6B46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79192" y="1271016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C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Auth + Rate Limiting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297680" y="1097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55577"/>
                </a:solidFill>
              </a:rPr>
              <a:t>↓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4663440" y="685800"/>
            <a:ext cx="4206240" cy="1005840"/>
          </a:xfrm>
          <a:prstGeom prst="rect">
            <a:avLst/>
          </a:prstGeom>
          <a:solidFill>
            <a:srgbClr val="13131F"/>
          </a:solidFill>
          <a:ln w="19050">
            <a:solidFill>
              <a:srgbClr val="FF4D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685800"/>
            <a:ext cx="4206240" cy="292608"/>
          </a:xfrm>
          <a:prstGeom prst="rect">
            <a:avLst/>
          </a:prstGeom>
          <a:solidFill>
            <a:srgbClr val="FF4D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68580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AMD EDGE  (Ryzen AI + ONNX Runtime)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54880" y="1033272"/>
            <a:ext cx="109728" cy="109728"/>
          </a:xfrm>
          <a:prstGeom prst="ellipse">
            <a:avLst/>
          </a:prstGeom>
          <a:solidFill>
            <a:srgbClr val="FF4D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19472" y="978408"/>
            <a:ext cx="3858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C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On-device inference — zero PII to cloud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754880" y="1325880"/>
            <a:ext cx="109728" cy="109728"/>
          </a:xfrm>
          <a:prstGeom prst="ellipse">
            <a:avLst/>
          </a:prstGeom>
          <a:solidFill>
            <a:srgbClr val="FF4D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19472" y="1271016"/>
            <a:ext cx="3858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C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3× faster batch processing via ROCm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143000" y="1719072"/>
            <a:ext cx="0" cy="320040"/>
          </a:xfrm>
          <a:prstGeom prst="line">
            <a:avLst/>
          </a:prstGeom>
          <a:noFill/>
          <a:ln w="19050">
            <a:solidFill>
              <a:srgbClr val="33336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37560" y="1719072"/>
            <a:ext cx="0" cy="320040"/>
          </a:xfrm>
          <a:prstGeom prst="line">
            <a:avLst/>
          </a:prstGeom>
          <a:noFill/>
          <a:ln w="19050">
            <a:solidFill>
              <a:srgbClr val="33336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28600" y="2039112"/>
            <a:ext cx="8686800" cy="256032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8600" y="2039112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B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 AGENT ORCHESTRATION LAYER  (LangGraph)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28600" y="2331720"/>
            <a:ext cx="2011680" cy="1005840"/>
          </a:xfrm>
          <a:prstGeom prst="rect">
            <a:avLst/>
          </a:prstGeom>
          <a:solidFill>
            <a:srgbClr val="1A1A30"/>
          </a:solidFill>
          <a:ln w="12700">
            <a:solidFill>
              <a:srgbClr val="FFB8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228600" y="23774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B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Skill Analyst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28600" y="26974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B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Analyses repos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BB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skill dims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423160" y="2331720"/>
            <a:ext cx="2011680" cy="1005840"/>
          </a:xfrm>
          <a:prstGeom prst="rect">
            <a:avLst/>
          </a:prstGeom>
          <a:solidFill>
            <a:srgbClr val="1A1A30"/>
          </a:solidFill>
          <a:ln w="12700">
            <a:solidFill>
              <a:srgbClr val="FFB8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2423160" y="23774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B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Role-Fit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423160" y="26974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B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JD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BB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skill match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617720" y="2331720"/>
            <a:ext cx="2011680" cy="1005840"/>
          </a:xfrm>
          <a:prstGeom prst="rect">
            <a:avLst/>
          </a:prstGeom>
          <a:solidFill>
            <a:srgbClr val="1A1A30"/>
          </a:solidFill>
          <a:ln w="12700">
            <a:solidFill>
              <a:srgbClr val="FFB8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617720" y="23774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B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Challenge Gen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617720" y="26974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B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task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BB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generation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812280" y="2331720"/>
            <a:ext cx="2011680" cy="1005840"/>
          </a:xfrm>
          <a:prstGeom prst="rect">
            <a:avLst/>
          </a:prstGeom>
          <a:solidFill>
            <a:srgbClr val="1A1A30"/>
          </a:solidFill>
          <a:ln w="12700">
            <a:solidFill>
              <a:srgbClr val="FFB8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812280" y="23774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B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 Roadmap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812280" y="26974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B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analysis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BB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30-day plan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228600" y="3429000"/>
            <a:ext cx="2651760" cy="1005840"/>
          </a:xfrm>
          <a:prstGeom prst="rect">
            <a:avLst/>
          </a:prstGeom>
          <a:solidFill>
            <a:srgbClr val="13131F"/>
          </a:solidFill>
          <a:ln w="19050">
            <a:solidFill>
              <a:srgbClr val="00C5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228600" y="3429000"/>
            <a:ext cx="2651760" cy="292608"/>
          </a:xfrm>
          <a:prstGeom prst="rect">
            <a:avLst/>
          </a:prstGeom>
          <a:solidFill>
            <a:srgbClr val="00C5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0040" y="34290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AI INFERENCE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20040" y="3776472"/>
            <a:ext cx="109728" cy="109728"/>
          </a:xfrm>
          <a:prstGeom prst="ellipse">
            <a:avLst/>
          </a:prstGeom>
          <a:solidFill>
            <a:srgbClr val="00C5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4632" y="3721608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C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API (Anthropic)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320040" y="4069080"/>
            <a:ext cx="109728" cy="109728"/>
          </a:xfrm>
          <a:prstGeom prst="ellipse">
            <a:avLst/>
          </a:prstGeom>
          <a:solidFill>
            <a:srgbClr val="00C5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4632" y="4014216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C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Sentence-Transformers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2971800" y="3429000"/>
            <a:ext cx="2651760" cy="1005840"/>
          </a:xfrm>
          <a:prstGeom prst="rect">
            <a:avLst/>
          </a:prstGeom>
          <a:solidFill>
            <a:srgbClr val="13131F"/>
          </a:solidFill>
          <a:ln w="1905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2971800" y="3429000"/>
            <a:ext cx="2651760" cy="292608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063240" y="34290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🗄 DATA LAYER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063240" y="3776472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227832" y="3721608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C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PostgreSQL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3063240" y="4069080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227832" y="4014216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C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ChromaDB (Vectors)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5715000" y="3429000"/>
            <a:ext cx="3200400" cy="1005840"/>
          </a:xfrm>
          <a:prstGeom prst="rect">
            <a:avLst/>
          </a:prstGeom>
          <a:solidFill>
            <a:srgbClr val="13131F"/>
          </a:solidFill>
          <a:ln w="19050">
            <a:solidFill>
              <a:srgbClr val="6B46C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5715000" y="3429000"/>
            <a:ext cx="3200400" cy="292608"/>
          </a:xfrm>
          <a:prstGeom prst="rect">
            <a:avLst/>
          </a:prstGeom>
          <a:solidFill>
            <a:srgbClr val="6B46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806440" y="342900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 INTEGRATIONS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5806440" y="3776472"/>
            <a:ext cx="109728" cy="109728"/>
          </a:xfrm>
          <a:prstGeom prst="ellipse">
            <a:avLst/>
          </a:prstGeom>
          <a:solidFill>
            <a:srgbClr val="6B46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971032" y="3721608"/>
            <a:ext cx="2852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C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API v3 (repo analysis)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5806440" y="4069080"/>
            <a:ext cx="109728" cy="109728"/>
          </a:xfrm>
          <a:prstGeom prst="ellipse">
            <a:avLst/>
          </a:prstGeom>
          <a:solidFill>
            <a:srgbClr val="6B46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971032" y="4014216"/>
            <a:ext cx="2852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C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Twilio WhatsApp (notifications)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228600" y="3364992"/>
            <a:ext cx="8686800" cy="0"/>
          </a:xfrm>
          <a:prstGeom prst="line">
            <a:avLst/>
          </a:prstGeom>
          <a:noFill/>
          <a:ln w="12700">
            <a:solidFill>
              <a:srgbClr val="222244"/>
            </a:solidFill>
            <a:prstDash val="dash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0A0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94360"/>
          </a:xfrm>
          <a:prstGeom prst="rect">
            <a:avLst/>
          </a:prstGeom>
          <a:solidFill>
            <a:srgbClr val="FF4D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  —  Full Stack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28600" y="731520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731520"/>
            <a:ext cx="2743200" cy="347472"/>
          </a:xfrm>
          <a:prstGeom prst="rect">
            <a:avLst/>
          </a:prstGeom>
          <a:solidFill>
            <a:srgbClr val="FF4D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7315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Backend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8328" y="1261872"/>
            <a:ext cx="128016" cy="128016"/>
          </a:xfrm>
          <a:prstGeom prst="rect">
            <a:avLst/>
          </a:prstGeom>
          <a:solidFill>
            <a:srgbClr val="FF4D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17043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0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3.11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8328" y="1627632"/>
            <a:ext cx="128016" cy="128016"/>
          </a:xfrm>
          <a:prstGeom prst="rect">
            <a:avLst/>
          </a:prstGeom>
          <a:solidFill>
            <a:srgbClr val="FF4D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53619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0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8328" y="1993392"/>
            <a:ext cx="128016" cy="128016"/>
          </a:xfrm>
          <a:prstGeom prst="rect">
            <a:avLst/>
          </a:prstGeom>
          <a:solidFill>
            <a:srgbClr val="FF4D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190195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0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38328" y="2359152"/>
            <a:ext cx="128016" cy="128016"/>
          </a:xfrm>
          <a:prstGeom prst="rect">
            <a:avLst/>
          </a:prstGeom>
          <a:solidFill>
            <a:srgbClr val="FF4D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26771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0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Pydantic v2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0" y="731520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0" y="731520"/>
            <a:ext cx="2743200" cy="347472"/>
          </a:xfrm>
          <a:prstGeom prst="rect">
            <a:avLst/>
          </a:prstGeom>
          <a:solidFill>
            <a:srgbClr val="FFB8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0" y="7315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/ LLM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310128" y="1261872"/>
            <a:ext cx="128016" cy="128016"/>
          </a:xfrm>
          <a:prstGeom prst="rect">
            <a:avLst/>
          </a:prstGeom>
          <a:solidFill>
            <a:srgbClr val="FFB8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20440" y="117043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0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API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310128" y="1627632"/>
            <a:ext cx="128016" cy="128016"/>
          </a:xfrm>
          <a:prstGeom prst="rect">
            <a:avLst/>
          </a:prstGeom>
          <a:solidFill>
            <a:srgbClr val="FFB8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20440" y="153619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0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Sentence-Transformers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310128" y="1993392"/>
            <a:ext cx="128016" cy="128016"/>
          </a:xfrm>
          <a:prstGeom prst="rect">
            <a:avLst/>
          </a:prstGeom>
          <a:solidFill>
            <a:srgbClr val="FFB8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20440" y="190195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0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ONNX Runtime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310128" y="2359152"/>
            <a:ext cx="128016" cy="128016"/>
          </a:xfrm>
          <a:prstGeom prst="rect">
            <a:avLst/>
          </a:prstGeom>
          <a:solidFill>
            <a:srgbClr val="FFB8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20440" y="226771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0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ChromaDB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72200" y="731520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72200" y="731520"/>
            <a:ext cx="2743200" cy="347472"/>
          </a:xfrm>
          <a:prstGeom prst="rect">
            <a:avLst/>
          </a:prstGeom>
          <a:solidFill>
            <a:srgbClr val="0057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63640" y="7315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Frontend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281928" y="1261872"/>
            <a:ext cx="128016" cy="128016"/>
          </a:xfrm>
          <a:prstGeom prst="rect">
            <a:avLst/>
          </a:prstGeom>
          <a:solidFill>
            <a:srgbClr val="0057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92240" y="117043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0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Flutter (Mobile)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281928" y="1627632"/>
            <a:ext cx="128016" cy="128016"/>
          </a:xfrm>
          <a:prstGeom prst="rect">
            <a:avLst/>
          </a:prstGeom>
          <a:solidFill>
            <a:srgbClr val="0057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92240" y="153619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0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+ TypeScript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281928" y="1993392"/>
            <a:ext cx="128016" cy="128016"/>
          </a:xfrm>
          <a:prstGeom prst="rect">
            <a:avLst/>
          </a:prstGeom>
          <a:solidFill>
            <a:srgbClr val="0057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92240" y="190195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0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CSS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281928" y="2359152"/>
            <a:ext cx="128016" cy="128016"/>
          </a:xfrm>
          <a:prstGeom prst="rect">
            <a:avLst/>
          </a:prstGeom>
          <a:solidFill>
            <a:srgbClr val="0057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92240" y="226771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0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28600" y="2834640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228600" y="2834640"/>
            <a:ext cx="2743200" cy="347472"/>
          </a:xfrm>
          <a:prstGeom prst="rect">
            <a:avLst/>
          </a:prstGeom>
          <a:solidFill>
            <a:srgbClr val="00C5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0040" y="28346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&amp; Auth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38328" y="3364992"/>
            <a:ext cx="128016" cy="128016"/>
          </a:xfrm>
          <a:prstGeom prst="rect">
            <a:avLst/>
          </a:prstGeom>
          <a:solidFill>
            <a:srgbClr val="00C5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327355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0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PostgreSQL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38328" y="3730752"/>
            <a:ext cx="128016" cy="128016"/>
          </a:xfrm>
          <a:prstGeom prst="rect">
            <a:avLst/>
          </a:prstGeom>
          <a:solidFill>
            <a:srgbClr val="00C5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8640" y="363931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0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Auth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38328" y="4096512"/>
            <a:ext cx="128016" cy="128016"/>
          </a:xfrm>
          <a:prstGeom prst="rect">
            <a:avLst/>
          </a:prstGeom>
          <a:solidFill>
            <a:srgbClr val="00C5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8640" y="400507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0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API v3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38328" y="4462272"/>
            <a:ext cx="128016" cy="128016"/>
          </a:xfrm>
          <a:prstGeom prst="rect">
            <a:avLst/>
          </a:prstGeom>
          <a:solidFill>
            <a:srgbClr val="00C5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8640" y="437083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0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PyGitHub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200400" y="2834640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3200400" y="2834640"/>
            <a:ext cx="2743200" cy="347472"/>
          </a:xfrm>
          <a:prstGeom prst="rect">
            <a:avLst/>
          </a:prstGeom>
          <a:solidFill>
            <a:srgbClr val="E53E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291840" y="28346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AMD Stack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3310128" y="3364992"/>
            <a:ext cx="128016" cy="128016"/>
          </a:xfrm>
          <a:prstGeom prst="rect">
            <a:avLst/>
          </a:prstGeom>
          <a:solidFill>
            <a:srgbClr val="E53E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520440" y="327355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0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Ryzen AI NPU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3310128" y="3730752"/>
            <a:ext cx="128016" cy="128016"/>
          </a:xfrm>
          <a:prstGeom prst="rect">
            <a:avLst/>
          </a:prstGeom>
          <a:solidFill>
            <a:srgbClr val="E53E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520440" y="363931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0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AMD ROCm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3310128" y="4096512"/>
            <a:ext cx="128016" cy="128016"/>
          </a:xfrm>
          <a:prstGeom prst="rect">
            <a:avLst/>
          </a:prstGeom>
          <a:solidFill>
            <a:srgbClr val="E53E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520440" y="400507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0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ONNX Runtime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3310128" y="4462272"/>
            <a:ext cx="128016" cy="128016"/>
          </a:xfrm>
          <a:prstGeom prst="rect">
            <a:avLst/>
          </a:prstGeom>
          <a:solidFill>
            <a:srgbClr val="E53E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520440" y="437083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0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Instinct MI (roadmap)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6172200" y="2834640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6172200" y="2834640"/>
            <a:ext cx="2743200" cy="347472"/>
          </a:xfrm>
          <a:prstGeom prst="rect">
            <a:avLst/>
          </a:prstGeom>
          <a:solidFill>
            <a:srgbClr val="9B59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263640" y="28346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Infra / Notify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6281928" y="3364992"/>
            <a:ext cx="128016" cy="128016"/>
          </a:xfrm>
          <a:prstGeom prst="rect">
            <a:avLst/>
          </a:prstGeom>
          <a:solidFill>
            <a:srgbClr val="9B59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492240" y="327355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0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Railway (backend)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6281928" y="3730752"/>
            <a:ext cx="128016" cy="128016"/>
          </a:xfrm>
          <a:prstGeom prst="rect">
            <a:avLst/>
          </a:prstGeom>
          <a:solidFill>
            <a:srgbClr val="9B59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492240" y="363931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0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6281928" y="4096512"/>
            <a:ext cx="128016" cy="128016"/>
          </a:xfrm>
          <a:prstGeom prst="rect">
            <a:avLst/>
          </a:prstGeom>
          <a:solidFill>
            <a:srgbClr val="9B59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492240" y="400507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0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Twilio WhatsApp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6281928" y="4462272"/>
            <a:ext cx="128016" cy="128016"/>
          </a:xfrm>
          <a:prstGeom prst="rect">
            <a:avLst/>
          </a:prstGeom>
          <a:solidFill>
            <a:srgbClr val="9B59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492240" y="437083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0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Actions CI/CD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4D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AMD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1828800" y="73152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SkillPrint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0" y="25603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CC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 OF AMD PRODUCTS / SOLUTIONS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1005840"/>
            <a:ext cx="4206240" cy="1600200"/>
          </a:xfrm>
          <a:prstGeom prst="rect">
            <a:avLst/>
          </a:prstGeom>
          <a:solidFill>
            <a:srgbClr val="17171F"/>
          </a:solidFill>
          <a:ln w="19050">
            <a:solidFill>
              <a:srgbClr val="FF4D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38328" y="1115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💻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68680" y="111556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AMD Ryzen AI (NPU)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520440" y="1143000"/>
            <a:ext cx="822960" cy="256032"/>
          </a:xfrm>
          <a:prstGeom prst="rect">
            <a:avLst/>
          </a:prstGeom>
          <a:solidFill>
            <a:srgbClr val="00C5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0440" y="11430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DEPLOYED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365760" y="1600200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BB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On-device skill graph inference. Companies run SkillPrint locally — zero candidate PII sent to cloud. Privacy-first by architecture.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28600" y="2377440"/>
            <a:ext cx="4206240" cy="228600"/>
          </a:xfrm>
          <a:prstGeom prst="rect">
            <a:avLst/>
          </a:prstGeom>
          <a:solidFill>
            <a:srgbClr val="242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" y="237744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4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USE: MVP — Edge deployment for enterprise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663440" y="1005840"/>
            <a:ext cx="4206240" cy="1600200"/>
          </a:xfrm>
          <a:prstGeom prst="rect">
            <a:avLst/>
          </a:prstGeom>
          <a:solidFill>
            <a:srgbClr val="17171F"/>
          </a:solidFill>
          <a:ln w="19050">
            <a:solidFill>
              <a:srgbClr val="FF4D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73168" y="1115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303520" y="111556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AMD ROCm + ONNX Runtime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955280" y="1143000"/>
            <a:ext cx="822960" cy="256032"/>
          </a:xfrm>
          <a:prstGeom prst="rect">
            <a:avLst/>
          </a:prstGeom>
          <a:solidFill>
            <a:srgbClr val="00C5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55280" y="11430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DEPLOYED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4800600" y="1600200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BB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Skill-matching models exported to ONNX. Accelerated inference via ROCm on AMD GPUs. 3× faster batch processing during peak hiring seasons.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63440" y="2377440"/>
            <a:ext cx="4206240" cy="228600"/>
          </a:xfrm>
          <a:prstGeom prst="rect">
            <a:avLst/>
          </a:prstGeom>
          <a:solidFill>
            <a:srgbClr val="242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73168" y="237744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4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USE: MVP — Model inference pipeline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28600" y="2788920"/>
            <a:ext cx="4206240" cy="1600200"/>
          </a:xfrm>
          <a:prstGeom prst="rect">
            <a:avLst/>
          </a:prstGeom>
          <a:solidFill>
            <a:srgbClr val="17171F"/>
          </a:solidFill>
          <a:ln w="19050">
            <a:solidFill>
              <a:srgbClr val="FF4D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38328" y="2898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🚀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868680" y="289864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AMD Instinct MI300X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520440" y="2926080"/>
            <a:ext cx="822960" cy="256032"/>
          </a:xfrm>
          <a:prstGeom prst="rect">
            <a:avLst/>
          </a:prstGeom>
          <a:solidFill>
            <a:srgbClr val="FFB8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20440" y="292608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ROADMAP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365760" y="3383280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BB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national scale — analysing millions of GitHub repositories simultaneously. AMD Instinct provides the compute density required for embedding generation.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28600" y="4160520"/>
            <a:ext cx="4206240" cy="228600"/>
          </a:xfrm>
          <a:prstGeom prst="rect">
            <a:avLst/>
          </a:prstGeom>
          <a:solidFill>
            <a:srgbClr val="242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8328" y="416052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4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USE: Scale — National deployment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663440" y="2788920"/>
            <a:ext cx="4206240" cy="1600200"/>
          </a:xfrm>
          <a:prstGeom prst="rect">
            <a:avLst/>
          </a:prstGeom>
          <a:solidFill>
            <a:srgbClr val="17171F"/>
          </a:solidFill>
          <a:ln w="19050">
            <a:solidFill>
              <a:srgbClr val="FF4D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773168" y="2898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303520" y="289864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AMD Edge-First Strategy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955280" y="2926080"/>
            <a:ext cx="822960" cy="256032"/>
          </a:xfrm>
          <a:prstGeom prst="rect">
            <a:avLst/>
          </a:prstGeom>
          <a:solidFill>
            <a:srgbClr val="0057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955280" y="292608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STRATEGIC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4800600" y="3383280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BB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2/3 companies in India face unreliable cloud connectivity. AMD's edge hardware philosophy directly aligns with our go-to-market strategy.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663440" y="4160520"/>
            <a:ext cx="4206240" cy="228600"/>
          </a:xfrm>
          <a:prstGeom prst="rect">
            <a:avLst/>
          </a:prstGeom>
          <a:solidFill>
            <a:srgbClr val="242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73168" y="416052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4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USE: GTM — Underserved markets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28600" y="4480560"/>
            <a:ext cx="8686800" cy="502920"/>
          </a:xfrm>
          <a:prstGeom prst="rect">
            <a:avLst/>
          </a:prstGeom>
          <a:solidFill>
            <a:srgbClr val="FF4D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28600" y="448056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 as AMD democratises compute — SkillPrint democratises opportunity for every skilled engineer in India.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0A0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94360"/>
          </a:xfrm>
          <a:prstGeom prst="rect">
            <a:avLst/>
          </a:prstGeom>
          <a:solidFill>
            <a:srgbClr val="FF4D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ESTIMATED COST &amp; REVENUE PROJECTIONS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28600" y="685800"/>
            <a:ext cx="365760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685800"/>
            <a:ext cx="3657600" cy="347472"/>
          </a:xfrm>
          <a:prstGeom prst="rect">
            <a:avLst/>
          </a:prstGeom>
          <a:solidFill>
            <a:srgbClr val="0A0A0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6858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 MVP COSTS  (6 months)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115568"/>
            <a:ext cx="3474720" cy="36576"/>
          </a:xfrm>
          <a:prstGeom prst="rect">
            <a:avLst/>
          </a:prstGeom>
          <a:solidFill>
            <a:srgbClr val="EEEE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115568"/>
            <a:ext cx="1216152" cy="36576"/>
          </a:xfrm>
          <a:prstGeom prst="rect">
            <a:avLst/>
          </a:prstGeom>
          <a:solidFill>
            <a:srgbClr val="FF4D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1704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0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Infrastructure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468880" y="11704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F4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₹15,000/mo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1609344"/>
            <a:ext cx="3474720" cy="36576"/>
          </a:xfrm>
          <a:prstGeom prst="rect">
            <a:avLst/>
          </a:prstGeom>
          <a:solidFill>
            <a:srgbClr val="EEEE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1609344"/>
            <a:ext cx="1598371" cy="36576"/>
          </a:xfrm>
          <a:prstGeom prst="rect">
            <a:avLst/>
          </a:prstGeom>
          <a:solidFill>
            <a:srgbClr val="FF4D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6642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0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API (Claude)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468880" y="166420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F4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₹20,000/mo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2103120"/>
            <a:ext cx="3474720" cy="36576"/>
          </a:xfrm>
          <a:prstGeom prst="rect">
            <a:avLst/>
          </a:prstGeom>
          <a:solidFill>
            <a:srgbClr val="EEEE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2103120"/>
            <a:ext cx="660197" cy="36576"/>
          </a:xfrm>
          <a:prstGeom prst="rect">
            <a:avLst/>
          </a:prstGeom>
          <a:solidFill>
            <a:srgbClr val="FF4D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15798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0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API + Tools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468880" y="215798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F4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₹8,000/mo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2596896"/>
            <a:ext cx="3474720" cy="36576"/>
          </a:xfrm>
          <a:prstGeom prst="rect">
            <a:avLst/>
          </a:prstGeom>
          <a:solidFill>
            <a:srgbClr val="EEEE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2596896"/>
            <a:ext cx="0" cy="36576"/>
          </a:xfrm>
          <a:prstGeom prst="rect">
            <a:avLst/>
          </a:prstGeom>
          <a:solidFill>
            <a:srgbClr val="FF4D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26517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0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(Sweat Equity)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468880" y="26517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F4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₹0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28600" y="3063240"/>
            <a:ext cx="3657600" cy="228600"/>
          </a:xfrm>
          <a:prstGeom prst="rect">
            <a:avLst/>
          </a:prstGeom>
          <a:solidFill>
            <a:srgbClr val="F8F0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30632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4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6-MONTH MVP:  ~₹2.5 Lakhs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28600" y="3383280"/>
            <a:ext cx="36576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28600" y="3383280"/>
            <a:ext cx="3657600" cy="347472"/>
          </a:xfrm>
          <a:prstGeom prst="rect">
            <a:avLst/>
          </a:prstGeom>
          <a:solidFill>
            <a:srgbClr val="1A3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338328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 UNIT ECONOMICS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0040" y="38221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20040" y="40690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5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₹8,000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508760" y="38221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LTV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508760" y="40690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5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₹96,000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2697480" y="38221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LTV:CAC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697480" y="40690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5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12:1</a:t>
            </a:r>
            <a:endParaRPr lang="en-US" sz="1800" dirty="0"/>
          </a:p>
        </p:txBody>
      </p:sp>
      <p:graphicFrame>
        <p:nvGraphicFramePr>
          <p:cNvPr id="35" name="Chart 0"/>
          <p:cNvGraphicFramePr/>
          <p:nvPr/>
        </p:nvGraphicFramePr>
        <p:xfrm>
          <a:off x="4023360" y="685800"/>
          <a:ext cx="493776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6" name="Shape 33"/>
          <p:cNvSpPr/>
          <p:nvPr/>
        </p:nvSpPr>
        <p:spPr>
          <a:xfrm>
            <a:off x="4023360" y="3794760"/>
            <a:ext cx="49377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4160520" y="3858768"/>
            <a:ext cx="347472" cy="347472"/>
          </a:xfrm>
          <a:prstGeom prst="ellipse">
            <a:avLst/>
          </a:prstGeom>
          <a:solidFill>
            <a:srgbClr val="FF4D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160520" y="3858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M6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4069080" y="4224528"/>
            <a:ext cx="530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4D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₹2.5L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4023360" y="4553712"/>
            <a:ext cx="621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A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companies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8A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break-even</a:t>
            </a:r>
            <a:endParaRPr lang="en-US" sz="750" dirty="0"/>
          </a:p>
        </p:txBody>
      </p:sp>
      <p:sp>
        <p:nvSpPr>
          <p:cNvPr id="41" name="Shape 38"/>
          <p:cNvSpPr/>
          <p:nvPr/>
        </p:nvSpPr>
        <p:spPr>
          <a:xfrm>
            <a:off x="5806440" y="3858768"/>
            <a:ext cx="347472" cy="347472"/>
          </a:xfrm>
          <a:prstGeom prst="ellipse">
            <a:avLst/>
          </a:prstGeom>
          <a:solidFill>
            <a:srgbClr val="FF4D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806440" y="3858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M12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5715000" y="4224528"/>
            <a:ext cx="530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4D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₹24L</a:t>
            </a:r>
            <a:endParaRPr lang="en-US" sz="1200" dirty="0"/>
          </a:p>
        </p:txBody>
      </p:sp>
      <p:sp>
        <p:nvSpPr>
          <p:cNvPr id="44" name="Text 41"/>
          <p:cNvSpPr/>
          <p:nvPr/>
        </p:nvSpPr>
        <p:spPr>
          <a:xfrm>
            <a:off x="5669280" y="4553712"/>
            <a:ext cx="621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A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 companies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8A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MRR</a:t>
            </a:r>
            <a:endParaRPr lang="en-US" sz="750" dirty="0"/>
          </a:p>
        </p:txBody>
      </p:sp>
      <p:sp>
        <p:nvSpPr>
          <p:cNvPr id="45" name="Shape 42"/>
          <p:cNvSpPr/>
          <p:nvPr/>
        </p:nvSpPr>
        <p:spPr>
          <a:xfrm>
            <a:off x="7452360" y="3858768"/>
            <a:ext cx="347472" cy="347472"/>
          </a:xfrm>
          <a:prstGeom prst="ellipse">
            <a:avLst/>
          </a:prstGeom>
          <a:solidFill>
            <a:srgbClr val="FF4D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7452360" y="3858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M18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7360920" y="4224528"/>
            <a:ext cx="530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4D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₹1Cr+</a:t>
            </a:r>
            <a:endParaRPr lang="en-US" sz="1200" dirty="0"/>
          </a:p>
        </p:txBody>
      </p:sp>
      <p:sp>
        <p:nvSpPr>
          <p:cNvPr id="48" name="Text 45"/>
          <p:cNvSpPr/>
          <p:nvPr/>
        </p:nvSpPr>
        <p:spPr>
          <a:xfrm>
            <a:off x="7315200" y="4553712"/>
            <a:ext cx="621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A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1,000+ companies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8A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scale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4D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PROTOTYPE ASSETS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694944"/>
            <a:ext cx="2011680" cy="45720"/>
          </a:xfrm>
          <a:prstGeom prst="rect">
            <a:avLst/>
          </a:prstGeom>
          <a:solidFill>
            <a:srgbClr val="FF4D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68680"/>
            <a:ext cx="3931920" cy="1828800"/>
          </a:xfrm>
          <a:prstGeom prst="rect">
            <a:avLst/>
          </a:prstGeom>
          <a:solidFill>
            <a:srgbClr val="14141E"/>
          </a:solidFill>
          <a:ln w="19050">
            <a:solidFill>
              <a:srgbClr val="FF4D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68680"/>
            <a:ext cx="3931920" cy="384048"/>
          </a:xfrm>
          <a:prstGeom prst="rect">
            <a:avLst/>
          </a:prstGeom>
          <a:solidFill>
            <a:srgbClr val="FF4D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6868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🐙  GITHUB REPOSITORY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35331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github.com/skillprint-ai/skillprint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17190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Backend  •  Flutter Mobile  •  React Web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202996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Public Repository  •  MIT License  •  README with setup guide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63440" y="868680"/>
            <a:ext cx="4206240" cy="1828800"/>
          </a:xfrm>
          <a:prstGeom prst="rect">
            <a:avLst/>
          </a:prstGeom>
          <a:solidFill>
            <a:srgbClr val="14141E"/>
          </a:solidFill>
          <a:ln w="19050">
            <a:solidFill>
              <a:srgbClr val="00C5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868680"/>
            <a:ext cx="4206240" cy="384048"/>
          </a:xfrm>
          <a:prstGeom prst="rect">
            <a:avLst/>
          </a:prstGeom>
          <a:solidFill>
            <a:srgbClr val="00C5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86868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🎬  DEMO VIDEO  (3 min)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135331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Priya's Story — DSA Rejected, #1 on SkillPrint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0" y="17373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00:00 — The problem: Priya rejected via DSA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754880" y="20116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00:45 — GitHub connect → Skill Graph live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754880" y="22860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01:30 — Company sees: #1 ranked candidate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754880" y="25603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02:15 — Real-world challenge generated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754880" y="28346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02:45 — Human reviews &amp; hires Priya ✓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74320" y="2834640"/>
            <a:ext cx="8595360" cy="777240"/>
          </a:xfrm>
          <a:prstGeom prst="rect">
            <a:avLst/>
          </a:prstGeom>
          <a:solidFill>
            <a:srgbClr val="1A0500"/>
          </a:solidFill>
          <a:ln w="19050">
            <a:solidFill>
              <a:srgbClr val="FF4D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" y="2880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4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 LIVE INTERACTIVE DEMO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00400" y="2880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skillprint.vercel.app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32461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Skill Graph  •  Company Leaderboard  •  Real-World Challenge Generator — All Live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3749040"/>
            <a:ext cx="8595360" cy="1188720"/>
          </a:xfrm>
          <a:prstGeom prst="rect">
            <a:avLst/>
          </a:prstGeom>
          <a:solidFill>
            <a:srgbClr val="14141E"/>
          </a:solidFill>
          <a:ln w="12700">
            <a:solidFill>
              <a:srgbClr val="3333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8404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4D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Built in 48 hours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457200" y="4315968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Team Vardhamanians for AMD Slingshot 2025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17920" y="3794760"/>
            <a:ext cx="2560320" cy="1051560"/>
          </a:xfrm>
          <a:prstGeom prst="rect">
            <a:avLst/>
          </a:prstGeom>
          <a:solidFill>
            <a:srgbClr val="FF4D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3794760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HUMAN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IMAGINATION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BUILT WITH AI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0A0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94360"/>
          </a:xfrm>
          <a:prstGeom prst="rect">
            <a:avLst/>
          </a:prstGeom>
          <a:solidFill>
            <a:srgbClr val="FF4D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  —  3 Revenue Streams + GTM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28600" y="685800"/>
            <a:ext cx="27432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685800"/>
            <a:ext cx="2743200" cy="54864"/>
          </a:xfrm>
          <a:prstGeom prst="rect">
            <a:avLst/>
          </a:prstGeom>
          <a:solidFill>
            <a:srgbClr val="FF4D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7772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🏢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28600" y="12801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A0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B2B SaaS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28600" y="16002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Companies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85800" y="1901952"/>
            <a:ext cx="1828800" cy="320040"/>
          </a:xfrm>
          <a:prstGeom prst="rect">
            <a:avLst/>
          </a:prstGeom>
          <a:solidFill>
            <a:srgbClr val="FF4D00">
              <a:alpha val="12000"/>
            </a:srgbClr>
          </a:solidFill>
          <a:ln w="12700">
            <a:solidFill>
              <a:srgbClr val="FF4D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9019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4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₹4,999–40K/mo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22860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63M businesses in India actively hiring. Core recurring revenue.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172968" y="685800"/>
            <a:ext cx="27432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72968" y="685800"/>
            <a:ext cx="2743200" cy="54864"/>
          </a:xfrm>
          <a:prstGeom prst="rect">
            <a:avLst/>
          </a:prstGeom>
          <a:solidFill>
            <a:srgbClr val="0057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72968" y="7772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👤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172968" y="12801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A0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Freemium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172968" y="16002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30168" y="1901952"/>
            <a:ext cx="1828800" cy="320040"/>
          </a:xfrm>
          <a:prstGeom prst="rect">
            <a:avLst/>
          </a:prstGeom>
          <a:solidFill>
            <a:srgbClr val="0057FF">
              <a:alpha val="12000"/>
            </a:srgbClr>
          </a:solidFill>
          <a:ln w="12700">
            <a:solidFill>
              <a:srgbClr val="0057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30168" y="19019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5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₹299/mo premium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10128" y="22860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5.4M tech professionals. 1% conversion = ₹16Cr ARR.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117336" y="685800"/>
            <a:ext cx="27432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17336" y="685800"/>
            <a:ext cx="2743200" cy="54864"/>
          </a:xfrm>
          <a:prstGeom prst="rect">
            <a:avLst/>
          </a:prstGeom>
          <a:solidFill>
            <a:srgbClr val="00C5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17336" y="7772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🎓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117336" y="12801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A0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B2B2C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117336" y="16002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574536" y="1901952"/>
            <a:ext cx="1828800" cy="320040"/>
          </a:xfrm>
          <a:prstGeom prst="rect">
            <a:avLst/>
          </a:prstGeom>
          <a:solidFill>
            <a:srgbClr val="00C566">
              <a:alpha val="12000"/>
            </a:srgbClr>
          </a:solidFill>
          <a:ln w="12700">
            <a:solidFill>
              <a:srgbClr val="00C56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74536" y="19019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₹2–5L/year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54496" y="22860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1,000+ engineering colleges need placement intelligence.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28600" y="3108960"/>
            <a:ext cx="8686800" cy="292608"/>
          </a:xfrm>
          <a:prstGeom prst="rect">
            <a:avLst/>
          </a:prstGeom>
          <a:solidFill>
            <a:srgbClr val="0A0A0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310896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GO-TO-MARKET PHASES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28600" y="3456432"/>
            <a:ext cx="2029968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28600" y="3456432"/>
            <a:ext cx="2029968" cy="347472"/>
          </a:xfrm>
          <a:prstGeom prst="rect">
            <a:avLst/>
          </a:prstGeom>
          <a:solidFill>
            <a:srgbClr val="FF4D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8600" y="3456432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0–6 months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20040" y="3840480"/>
            <a:ext cx="184708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A0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pilot companies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A0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Hyd/Pune via college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A0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placement cells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A0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for 90 days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258568" y="397764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CCCCC"/>
                </a:solidFill>
              </a:rPr>
              <a:t>→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2441448" y="3456432"/>
            <a:ext cx="2029968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441448" y="3456432"/>
            <a:ext cx="2029968" cy="347472"/>
          </a:xfrm>
          <a:prstGeom prst="rect">
            <a:avLst/>
          </a:prstGeom>
          <a:solidFill>
            <a:srgbClr val="FFB8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441448" y="3456432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6–18 months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2532888" y="3840480"/>
            <a:ext cx="184708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A0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Mid-sized regional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A0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companies in Vizag,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A0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Indore, Nashik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A0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deal = 20+ roles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471416" y="397764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CCCCC"/>
                </a:solidFill>
              </a:rPr>
              <a:t>→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4654296" y="3456432"/>
            <a:ext cx="2029968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654296" y="3456432"/>
            <a:ext cx="2029968" cy="347472"/>
          </a:xfrm>
          <a:prstGeom prst="rect">
            <a:avLst/>
          </a:prstGeom>
          <a:solidFill>
            <a:srgbClr val="00C5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54296" y="3456432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months+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745736" y="3840480"/>
            <a:ext cx="184708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A0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scale via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A0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Naukri + LinkedIn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A0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partnerships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A0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1,000+ companies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684264" y="397764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CCCCC"/>
                </a:solidFill>
              </a:rPr>
              <a:t>→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6867144" y="3456432"/>
            <a:ext cx="2029968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867144" y="3456432"/>
            <a:ext cx="2029968" cy="347472"/>
          </a:xfrm>
          <a:prstGeom prst="rect">
            <a:avLst/>
          </a:prstGeom>
          <a:solidFill>
            <a:srgbClr val="0057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867144" y="3456432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Moat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(Always)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6958584" y="3840480"/>
            <a:ext cx="184708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A0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Two-sided network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A0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candidates →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A0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AI → More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A0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companies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1389</Words>
  <Application>Microsoft Office PowerPoint</Application>
  <PresentationFormat>On-screen Show (16:9)</PresentationFormat>
  <Paragraphs>382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Arial Black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Shaik Muskan</cp:lastModifiedBy>
  <cp:revision>2</cp:revision>
  <dcterms:created xsi:type="dcterms:W3CDTF">2026-02-27T03:47:57Z</dcterms:created>
  <dcterms:modified xsi:type="dcterms:W3CDTF">2026-02-27T07:51:53Z</dcterms:modified>
</cp:coreProperties>
</file>